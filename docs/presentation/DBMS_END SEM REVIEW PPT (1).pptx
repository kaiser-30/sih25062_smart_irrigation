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7" r:id="rId6"/>
    <p:sldId id="260" r:id="rId7"/>
    <p:sldId id="283" r:id="rId8"/>
    <p:sldId id="268" r:id="rId9"/>
    <p:sldId id="277" r:id="rId10"/>
    <p:sldId id="284" r:id="rId11"/>
    <p:sldId id="278" r:id="rId12"/>
    <p:sldId id="279" r:id="rId13"/>
    <p:sldId id="280" r:id="rId14"/>
    <p:sldId id="285" r:id="rId15"/>
    <p:sldId id="288" r:id="rId16"/>
    <p:sldId id="262" r:id="rId17"/>
    <p:sldId id="282" r:id="rId18"/>
    <p:sldId id="286" r:id="rId19"/>
    <p:sldId id="289" r:id="rId20"/>
    <p:sldId id="287" r:id="rId21"/>
    <p:sldId id="281" r:id="rId22"/>
    <p:sldId id="26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6" d="100"/>
          <a:sy n="96" d="100"/>
        </p:scale>
        <p:origin x="106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419091-6CD7-4637-857D-F7CBAA04317F}" type="datetimeFigureOut">
              <a:rPr lang="en-US" smtClean="0"/>
              <a:t>5/6/2026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D1F62A-CCAB-434E-91E2-A12BF73B59DF}" type="slidenum">
              <a:rPr lang="en-US" smtClean="0"/>
              <a:t>‹#›</a:t>
            </a:fld>
            <a:endParaRPr lang="en-US"/>
          </a:p>
        </p:txBody>
      </p:sp>
    </p:spTree>
    <p:extLst>
      <p:ext uri="{BB962C8B-B14F-4D97-AF65-F5344CB8AC3E}">
        <p14:creationId xmlns:p14="http://schemas.microsoft.com/office/powerpoint/2010/main" val="4257517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F361D-2434-6D6D-5FB0-DAB6BB3FF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72824-FCC5-9CA9-8DC8-5E44D83853D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638D16A-1506-07B5-3BDA-67E9AEC5F8A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7137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CBAF9CC-4D36-493F-BCA7-22A489BFC732}"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4B447D-0F27-49CB-9A26-14E3CFEF719B}"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6E37E4-24A1-4039-975D-BE8D099BBAB5}"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62125-C6AF-411E-B7FE-B1E959FC7C36}" type="datetime1">
              <a:rPr lang="en-US" smtClean="0"/>
              <a:t>5/6/2026</a:t>
            </a:fld>
            <a:endParaRPr lang="en-US"/>
          </a:p>
        </p:txBody>
      </p:sp>
      <p:sp>
        <p:nvSpPr>
          <p:cNvPr id="6" name="Footer Placeholder 5"/>
          <p:cNvSpPr>
            <a:spLocks noGrp="1"/>
          </p:cNvSpPr>
          <p:nvPr>
            <p:ph type="ftr" sz="quarter" idx="11"/>
          </p:nvPr>
        </p:nvSpPr>
        <p:spPr/>
        <p:txBody>
          <a:bodyPr/>
          <a:lstStyle/>
          <a:p>
            <a:r>
              <a:rPr lang="en-US"/>
              <a:t>CGB1221-DATABASE MANAGEMENT SYSTEMS  END SEMESTER PROJECT REVIEW </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54CABF-00C9-447F-B0DC-387221E015D8}" type="datetime1">
              <a:rPr lang="en-US" smtClean="0"/>
              <a:t>5/6/2026</a:t>
            </a:fld>
            <a:endParaRPr lang="en-US"/>
          </a:p>
        </p:txBody>
      </p:sp>
      <p:sp>
        <p:nvSpPr>
          <p:cNvPr id="8" name="Footer Placeholder 7"/>
          <p:cNvSpPr>
            <a:spLocks noGrp="1"/>
          </p:cNvSpPr>
          <p:nvPr>
            <p:ph type="ftr" sz="quarter" idx="11"/>
          </p:nvPr>
        </p:nvSpPr>
        <p:spPr/>
        <p:txBody>
          <a:bodyPr/>
          <a:lstStyle/>
          <a:p>
            <a:r>
              <a:rPr lang="en-US"/>
              <a:t>CGB1221-DATABASE MANAGEMENT SYSTEMS  END SEMESTER PROJECT REVIEW </a:t>
            </a:r>
          </a:p>
        </p:txBody>
      </p:sp>
      <p:sp>
        <p:nvSpPr>
          <p:cNvPr id="9" name="Slide Number Placeholder 8"/>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AC97B1-6035-4FD3-90CE-D0D5B466FAB3}" type="datetime1">
              <a:rPr lang="en-US" smtClean="0"/>
              <a:t>5/6/2026</a:t>
            </a:fld>
            <a:endParaRPr lang="en-US"/>
          </a:p>
        </p:txBody>
      </p:sp>
      <p:sp>
        <p:nvSpPr>
          <p:cNvPr id="4" name="Footer Placeholder 3"/>
          <p:cNvSpPr>
            <a:spLocks noGrp="1"/>
          </p:cNvSpPr>
          <p:nvPr>
            <p:ph type="ftr" sz="quarter" idx="11"/>
          </p:nvPr>
        </p:nvSpPr>
        <p:spPr/>
        <p:txBody>
          <a:bodyPr/>
          <a:lstStyle/>
          <a:p>
            <a:r>
              <a:rPr lang="en-US"/>
              <a:t>CGB1221-DATABASE MANAGEMENT SYSTEMS  END SEMESTER PROJECT REVIEW </a:t>
            </a:r>
          </a:p>
        </p:txBody>
      </p:sp>
      <p:sp>
        <p:nvSpPr>
          <p:cNvPr id="5" name="Slide Number Placeholder 4"/>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531810-B1BE-4FCA-8EC5-42E3DE2F948E}" type="datetime1">
              <a:rPr lang="en-US" smtClean="0"/>
              <a:t>5/6/2026</a:t>
            </a:fld>
            <a:endParaRPr lang="en-US"/>
          </a:p>
        </p:txBody>
      </p:sp>
      <p:sp>
        <p:nvSpPr>
          <p:cNvPr id="3" name="Footer Placeholder 2"/>
          <p:cNvSpPr>
            <a:spLocks noGrp="1"/>
          </p:cNvSpPr>
          <p:nvPr>
            <p:ph type="ftr" sz="quarter" idx="11"/>
          </p:nvPr>
        </p:nvSpPr>
        <p:spPr/>
        <p:txBody>
          <a:bodyPr/>
          <a:lstStyle/>
          <a:p>
            <a:r>
              <a:rPr lang="en-US"/>
              <a:t>CGB1221-DATABASE MANAGEMENT SYSTEMS  END SEMESTER PROJECT REVIEW </a:t>
            </a:r>
          </a:p>
        </p:txBody>
      </p:sp>
      <p:sp>
        <p:nvSpPr>
          <p:cNvPr id="4" name="Slide Number Placeholder 3"/>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5D85B1-2C99-46D2-8CB3-6DAE4069A3E2}" type="datetime1">
              <a:rPr lang="en-US" smtClean="0"/>
              <a:t>5/6/2026</a:t>
            </a:fld>
            <a:endParaRPr lang="en-US"/>
          </a:p>
        </p:txBody>
      </p:sp>
      <p:sp>
        <p:nvSpPr>
          <p:cNvPr id="6" name="Footer Placeholder 5"/>
          <p:cNvSpPr>
            <a:spLocks noGrp="1"/>
          </p:cNvSpPr>
          <p:nvPr>
            <p:ph type="ftr" sz="quarter" idx="11"/>
          </p:nvPr>
        </p:nvSpPr>
        <p:spPr/>
        <p:txBody>
          <a:bodyPr/>
          <a:lstStyle/>
          <a:p>
            <a:r>
              <a:rPr lang="en-US"/>
              <a:t>CGB1221-DATABASE MANAGEMENT SYSTEMS  END SEMESTER PROJECT REVIEW </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E2DF40-8028-4582-B212-AF5DB6BB70F7}" type="datetime1">
              <a:rPr lang="en-US" smtClean="0"/>
              <a:t>5/6/2026</a:t>
            </a:fld>
            <a:endParaRPr lang="en-US"/>
          </a:p>
        </p:txBody>
      </p:sp>
      <p:sp>
        <p:nvSpPr>
          <p:cNvPr id="6" name="Footer Placeholder 5"/>
          <p:cNvSpPr>
            <a:spLocks noGrp="1"/>
          </p:cNvSpPr>
          <p:nvPr>
            <p:ph type="ftr" sz="quarter" idx="11"/>
          </p:nvPr>
        </p:nvSpPr>
        <p:spPr/>
        <p:txBody>
          <a:bodyPr/>
          <a:lstStyle/>
          <a:p>
            <a:r>
              <a:rPr lang="en-US"/>
              <a:t>CGB1221-DATABASE MANAGEMENT SYSTEMS  END SEMESTER PROJECT REVIEW </a:t>
            </a:r>
          </a:p>
        </p:txBody>
      </p:sp>
      <p:sp>
        <p:nvSpPr>
          <p:cNvPr id="7" name="Slide Number Placeholder 6"/>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C429A3-32A8-42C3-92C2-1AF2EC1F8CBA}"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8AEFAE-3676-4F35-8449-96933286D91C}"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1A3A7-32EB-4844-B5C8-41D0706DF9F7}" type="datetime1">
              <a:rPr lang="en-US" smtClean="0"/>
              <a:t>5/6/2026</a:t>
            </a:fld>
            <a:endParaRPr lang="en-US"/>
          </a:p>
        </p:txBody>
      </p:sp>
      <p:sp>
        <p:nvSpPr>
          <p:cNvPr id="5" name="Footer Placeholder 4"/>
          <p:cNvSpPr>
            <a:spLocks noGrp="1"/>
          </p:cNvSpPr>
          <p:nvPr>
            <p:ph type="ftr" sz="quarter" idx="11"/>
          </p:nvPr>
        </p:nvSpPr>
        <p:spPr/>
        <p:txBody>
          <a:bodyPr/>
          <a:lstStyle/>
          <a:p>
            <a:r>
              <a:rPr lang="en-US"/>
              <a:t>CGB1221-DATABASE MANAGEMENT SYSTEMS  END SEMESTER PROJECT REVIEW </a:t>
            </a:r>
          </a:p>
        </p:txBody>
      </p:sp>
      <p:sp>
        <p:nvSpPr>
          <p:cNvPr id="6" name="Slide Number Placeholder 5"/>
          <p:cNvSpPr>
            <a:spLocks noGrp="1"/>
          </p:cNvSpPr>
          <p:nvPr>
            <p:ph type="sldNum" sz="quarter" idx="12"/>
          </p:nvPr>
        </p:nvSpPr>
        <p:spPr/>
        <p:txBody>
          <a:bodyPr/>
          <a:lstStyle/>
          <a:p>
            <a:fld id="{66391149-F702-42CD-87F1-8E83746A2FC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0E69B0-1349-455D-A34E-A55CCF75A26E}" type="datetime1">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CGB1221-DATABASE MANAGEMENT SYSTEMS  END SEMESTER PROJECT REVIEW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91149-F702-42CD-87F1-8E83746A2FC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sist.sathyabama.ac.in/sist_naac/documents/1.3.4/1822-b.e-ece-batchno-125.pdf" TargetMode="External"/><Relationship Id="rId2" Type="http://schemas.openxmlformats.org/officeDocument/2006/relationships/hyperlink" Target="https://www.researchgate.net/publication/320273388_Comparative_Analysis_and_Practical_Implementation_of_the_ESP32_Microcontroller_Module_for_the_Internet_of_Things" TargetMode="External"/><Relationship Id="rId1" Type="http://schemas.openxmlformats.org/officeDocument/2006/relationships/slideLayout" Target="../slideLayouts/slideLayout1.xml"/><Relationship Id="rId4" Type="http://schemas.openxmlformats.org/officeDocument/2006/relationships/hyperlink" Target="https://www.normalesup.org/~scornet/paper/test.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CGB1221-DATABASE MANAGEMENT SYSTEMS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END SEMESTER PROJECT REVIEW</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447800"/>
            <a:ext cx="7760970" cy="4648200"/>
          </a:xfrm>
        </p:spPr>
        <p:style>
          <a:lnRef idx="2">
            <a:schemeClr val="accent2"/>
          </a:lnRef>
          <a:fillRef idx="1">
            <a:schemeClr val="lt1"/>
          </a:fillRef>
          <a:effectRef idx="0">
            <a:schemeClr val="accent2"/>
          </a:effectRef>
          <a:fontRef idx="minor">
            <a:schemeClr val="dk1"/>
          </a:fontRef>
        </p:style>
        <p:txBody>
          <a:bodyPr/>
          <a:lstStyle/>
          <a:p>
            <a:pPr lvl="0">
              <a:spcBef>
                <a:spcPts val="0"/>
              </a:spcBef>
              <a:buClr>
                <a:srgbClr val="000000"/>
              </a:buClr>
              <a:buSzPts val="2500"/>
            </a:pPr>
            <a:r>
              <a:rPr lang="en-US" sz="2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DEPARTMENT OF AI &amp; ECE</a:t>
            </a:r>
            <a:endParaRPr lang="en-US" sz="14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spcBef>
                <a:spcPts val="0"/>
              </a:spcBef>
              <a:buClr>
                <a:srgbClr val="000000"/>
              </a:buClr>
              <a:buSzPts val="2500"/>
            </a:pPr>
            <a:r>
              <a:rPr lang="en-US" sz="2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Academic Year: 2025 – 2026 (Even Semester)</a:t>
            </a:r>
            <a:endParaRPr lang="en-US" sz="14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lgn="l">
              <a:spcBef>
                <a:spcPts val="0"/>
              </a:spcBef>
              <a:buClr>
                <a:srgbClr val="000000"/>
              </a:buClr>
              <a:buSzPts val="2500"/>
            </a:pPr>
            <a:endPar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l">
              <a:lnSpc>
                <a:spcPct val="150000"/>
              </a:lnSpc>
              <a:spcBef>
                <a:spcPts val="0"/>
              </a:spcBef>
              <a:buClr>
                <a:srgbClr val="000000"/>
              </a:buClr>
              <a:buSzPts val="2500"/>
            </a:pPr>
            <a:r>
              <a:rPr lang="en-US" sz="24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Batch 			:2024-2028</a:t>
            </a:r>
          </a:p>
          <a:p>
            <a:pPr lvl="0" algn="l">
              <a:lnSpc>
                <a:spcPct val="150000"/>
              </a:lnSpc>
              <a:spcBef>
                <a:spcPts val="0"/>
              </a:spcBef>
              <a:buClr>
                <a:srgbClr val="000000"/>
              </a:buClr>
              <a:buSzPts val="2500"/>
            </a:pPr>
            <a:r>
              <a:rPr lang="en-US" sz="24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Year			: II</a:t>
            </a:r>
          </a:p>
          <a:p>
            <a:pPr lvl="0" algn="l">
              <a:lnSpc>
                <a:spcPct val="150000"/>
              </a:lnSpc>
              <a:spcBef>
                <a:spcPts val="0"/>
              </a:spcBef>
              <a:buClr>
                <a:srgbClr val="000000"/>
              </a:buClr>
              <a:buSzPts val="2500"/>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Semester		: IV</a:t>
            </a:r>
          </a:p>
          <a:p>
            <a:pPr lvl="0" algn="l">
              <a:lnSpc>
                <a:spcPct val="150000"/>
              </a:lnSpc>
              <a:spcBef>
                <a:spcPts val="0"/>
              </a:spcBef>
              <a:buClr>
                <a:srgbClr val="000000"/>
              </a:buClr>
              <a:buSzPts val="2500"/>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Date			: 07-05-2026</a:t>
            </a:r>
          </a:p>
          <a:p>
            <a:pPr lvl="0" algn="l">
              <a:spcBef>
                <a:spcPts val="0"/>
              </a:spcBef>
              <a:buClr>
                <a:srgbClr val="000000"/>
              </a:buClr>
              <a:buSzPts val="2500"/>
            </a:pPr>
            <a:endParaRPr lang="en-US" sz="16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t>CGB1221-DATABASE MANAGEMENT SYSTEMS  END SEMESTER PROJECT REVIEW </a:t>
            </a:r>
          </a:p>
        </p:txBody>
      </p:sp>
      <p:sp>
        <p:nvSpPr>
          <p:cNvPr id="5" name="Slide Number Placeholder 4"/>
          <p:cNvSpPr>
            <a:spLocks noGrp="1"/>
          </p:cNvSpPr>
          <p:nvPr>
            <p:ph type="sldNum" sz="quarter" idx="12"/>
          </p:nvPr>
        </p:nvSpPr>
        <p:spPr/>
        <p:txBody>
          <a:bodyPr/>
          <a:lstStyle/>
          <a:p>
            <a:fld id="{66391149-F702-42CD-87F1-8E83746A2FC9}"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CGB1221-DATABASE MANAGEMENT SYSTEMS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END SEMESTER PROJECT REVIEW</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772400" cy="4648200"/>
          </a:xfrm>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pPr lvl="0">
              <a:spcBef>
                <a:spcPts val="0"/>
              </a:spcBef>
              <a:buClr>
                <a:srgbClr val="000000"/>
              </a:buClr>
              <a:buSzPts val="2500"/>
            </a:pPr>
            <a:r>
              <a:rPr lang="en-US" sz="28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DEPARTMENT OF AI &amp; ECE</a:t>
            </a:r>
            <a:endParaRPr lang="en-US" sz="14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spcBef>
                <a:spcPts val="0"/>
              </a:spcBef>
              <a:buClr>
                <a:srgbClr val="000000"/>
              </a:buClr>
              <a:buSzPts val="2500"/>
            </a:pPr>
            <a:r>
              <a:rPr lang="en-US" sz="24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Academic Year: 2025 – 2026 (Even Semester)</a:t>
            </a:r>
            <a:endParaRPr lang="en-US" sz="1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lgn="l">
              <a:spcBef>
                <a:spcPts val="0"/>
              </a:spcBef>
              <a:buClr>
                <a:srgbClr val="000000"/>
              </a:buClr>
              <a:buSzPts val="2500"/>
            </a:pPr>
            <a:endPar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l">
              <a:lnSpc>
                <a:spcPct val="150000"/>
              </a:lnSpc>
              <a:spcBef>
                <a:spcPts val="0"/>
              </a:spcBef>
              <a:buClr>
                <a:srgbClr val="000000"/>
              </a:buClr>
              <a:buSzPts val="2500"/>
            </a:pPr>
            <a:r>
              <a:rPr lang="en-US" sz="22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Batch No           : 48</a:t>
            </a:r>
          </a:p>
          <a:p>
            <a:pPr lvl="0" algn="l">
              <a:lnSpc>
                <a:spcPct val="150000"/>
              </a:lnSpc>
              <a:spcBef>
                <a:spcPts val="0"/>
              </a:spcBef>
              <a:buClr>
                <a:srgbClr val="000000"/>
              </a:buClr>
              <a:buSzPts val="2500"/>
            </a:pPr>
            <a:r>
              <a:rPr lang="en-US" sz="2200" b="1" i="0" u="none" strike="noStrike" cap="none"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SIH_ID / Year   :  SIH25062 / SIH-2025</a:t>
            </a:r>
          </a:p>
          <a:p>
            <a:pPr lvl="0" algn="l">
              <a:lnSpc>
                <a:spcPct val="150000"/>
              </a:lnSpc>
              <a:spcBef>
                <a:spcPts val="0"/>
              </a:spcBef>
              <a:buClr>
                <a:srgbClr val="000000"/>
              </a:buClr>
              <a:buSzPts val="2500"/>
            </a:pPr>
            <a:r>
              <a:rPr lang="en-US" sz="2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Team Members :	  </a:t>
            </a:r>
          </a:p>
          <a:p>
            <a:pPr lvl="0" algn="l">
              <a:lnSpc>
                <a:spcPct val="150000"/>
              </a:lnSpc>
              <a:spcBef>
                <a:spcPts val="0"/>
              </a:spcBef>
              <a:buClr>
                <a:srgbClr val="000000"/>
              </a:buClr>
              <a:buSzPts val="2500"/>
            </a:pPr>
            <a:r>
              <a:rPr lang="en-US" sz="2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1.</a:t>
            </a:r>
            <a:r>
              <a:rPr lang="en-US" sz="2400" b="1" dirty="0">
                <a:solidFill>
                  <a:schemeClr val="dk1"/>
                </a:solidFill>
                <a:latin typeface="Times New Roman" pitchFamily="18" charset="0"/>
                <a:ea typeface="Times New Roman"/>
                <a:cs typeface="Times New Roman" pitchFamily="18" charset="0"/>
                <a:sym typeface="Times New Roman"/>
              </a:rPr>
              <a:t> CHANDRU P (927624BAD014) &amp; AI - A</a:t>
            </a:r>
          </a:p>
          <a:p>
            <a:pPr lvl="0" algn="l">
              <a:lnSpc>
                <a:spcPct val="150000"/>
              </a:lnSpc>
              <a:spcBef>
                <a:spcPts val="0"/>
              </a:spcBef>
              <a:buClr>
                <a:srgbClr val="000000"/>
              </a:buClr>
              <a:buSzPts val="2500"/>
            </a:pPr>
            <a:r>
              <a:rPr lang="en-US" sz="2400" b="1" dirty="0">
                <a:solidFill>
                  <a:schemeClr val="dk1"/>
                </a:solidFill>
                <a:latin typeface="Times New Roman" pitchFamily="18" charset="0"/>
                <a:ea typeface="Times New Roman"/>
                <a:cs typeface="Times New Roman" pitchFamily="18" charset="0"/>
                <a:sym typeface="Times New Roman"/>
              </a:rPr>
              <a:t>	               2.MOULI SIVAM S (927624BAD061)  &amp; AI - A</a:t>
            </a:r>
          </a:p>
          <a:p>
            <a:pPr lvl="0" algn="l">
              <a:lnSpc>
                <a:spcPct val="150000"/>
              </a:lnSpc>
              <a:spcBef>
                <a:spcPts val="0"/>
              </a:spcBef>
              <a:buClr>
                <a:srgbClr val="000000"/>
              </a:buClr>
              <a:buSzPts val="2500"/>
            </a:pPr>
            <a:r>
              <a:rPr lang="en-US" sz="2400" b="1" dirty="0">
                <a:solidFill>
                  <a:schemeClr val="dk1"/>
                </a:solidFill>
                <a:latin typeface="Times New Roman" pitchFamily="18" charset="0"/>
                <a:ea typeface="Times New Roman"/>
                <a:cs typeface="Times New Roman" pitchFamily="18" charset="0"/>
                <a:sym typeface="Times New Roman"/>
              </a:rPr>
              <a:t>	               3.JEYA KRISHNAN T (927624BEC079) &amp; ECE - B </a:t>
            </a:r>
          </a:p>
          <a:p>
            <a:pPr lvl="0" algn="l">
              <a:lnSpc>
                <a:spcPct val="150000"/>
              </a:lnSpc>
              <a:spcBef>
                <a:spcPts val="0"/>
              </a:spcBef>
              <a:buClr>
                <a:srgbClr val="000000"/>
              </a:buClr>
              <a:buSzPts val="2500"/>
            </a:pPr>
            <a:r>
              <a:rPr lang="en-US" sz="2400" b="1" dirty="0">
                <a:solidFill>
                  <a:schemeClr val="dk1"/>
                </a:solidFill>
                <a:latin typeface="Times New Roman" pitchFamily="18" charset="0"/>
                <a:ea typeface="Times New Roman"/>
                <a:cs typeface="Times New Roman" pitchFamily="18" charset="0"/>
                <a:sym typeface="Times New Roman"/>
              </a:rPr>
              <a:t>	            4.KAISER RAHMAN M (927624BEC081) &amp; ECE - B</a:t>
            </a:r>
            <a:r>
              <a:rPr lang="en-US" sz="2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p>
          <a:p>
            <a:pPr lvl="0" algn="l">
              <a:lnSpc>
                <a:spcPct val="150000"/>
              </a:lnSpc>
              <a:spcBef>
                <a:spcPts val="0"/>
              </a:spcBef>
              <a:buClr>
                <a:srgbClr val="000000"/>
              </a:buClr>
              <a:buSzPts val="2500"/>
            </a:pPr>
            <a:r>
              <a:rPr lang="en-US" sz="2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6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Title of the Project</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769860" cy="4648200"/>
          </a:xfrm>
        </p:spPr>
        <p:style>
          <a:lnRef idx="2">
            <a:schemeClr val="accent2"/>
          </a:lnRef>
          <a:fillRef idx="1">
            <a:schemeClr val="lt1"/>
          </a:fillRef>
          <a:effectRef idx="0">
            <a:schemeClr val="accent2"/>
          </a:effectRef>
          <a:fontRef idx="minor">
            <a:schemeClr val="dk1"/>
          </a:fontRef>
        </p:style>
        <p:txBody>
          <a:bodyPr>
            <a:normAutofit/>
          </a:bodyPr>
          <a:lstStyle/>
          <a:p>
            <a:pPr>
              <a:lnSpc>
                <a:spcPct val="200000"/>
              </a:lnSpc>
            </a:pPr>
            <a:endParaRPr lang="en-IN" b="1" dirty="0">
              <a:solidFill>
                <a:schemeClr val="tx1"/>
              </a:solidFill>
              <a:latin typeface="Times New Roman" panose="02020603050405020304" pitchFamily="18" charset="0"/>
              <a:cs typeface="Times New Roman" panose="02020603050405020304" pitchFamily="18" charset="0"/>
            </a:endParaRPr>
          </a:p>
          <a:p>
            <a:pPr>
              <a:lnSpc>
                <a:spcPct val="200000"/>
              </a:lnSpc>
            </a:pPr>
            <a:r>
              <a:rPr lang="en-IN" b="1" dirty="0">
                <a:solidFill>
                  <a:schemeClr val="tx1"/>
                </a:solidFill>
                <a:latin typeface="Times New Roman" panose="02020603050405020304" pitchFamily="18" charset="0"/>
                <a:cs typeface="Times New Roman" panose="02020603050405020304" pitchFamily="18" charset="0"/>
              </a:rPr>
              <a:t>SMART IRRIGATION SYSTEM</a:t>
            </a:r>
            <a:endParaRPr lang="en-IN" b="1" dirty="0">
              <a:latin typeface="Times New Roman" panose="02020603050405020304" pitchFamily="18" charset="0"/>
              <a:cs typeface="Times New Roman" panose="02020603050405020304" pitchFamily="18" charset="0"/>
            </a:endParaRPr>
          </a:p>
          <a:p>
            <a:pPr>
              <a:lnSpc>
                <a:spcPct val="200000"/>
              </a:lnSpc>
            </a:pP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ABSTRACT</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772400" cy="4648200"/>
          </a:xfrm>
        </p:spPr>
        <p:style>
          <a:lnRef idx="2">
            <a:schemeClr val="accent2"/>
          </a:lnRef>
          <a:fillRef idx="1">
            <a:schemeClr val="lt1"/>
          </a:fillRef>
          <a:effectRef idx="0">
            <a:schemeClr val="accent2"/>
          </a:effectRef>
          <a:fontRef idx="minor">
            <a:schemeClr val="dk1"/>
          </a:fontRef>
        </p:style>
        <p:txBody>
          <a:bodyPr>
            <a:noAutofit/>
          </a:bodyPr>
          <a:lstStyle/>
          <a:p>
            <a:pPr algn="just">
              <a:lnSpc>
                <a:spcPct val="150000"/>
              </a:lnSpc>
            </a:pPr>
            <a:r>
              <a:rPr lang="en-US" sz="1600" dirty="0" err="1">
                <a:solidFill>
                  <a:schemeClr val="tx1"/>
                </a:solidFill>
                <a:latin typeface="Times New Roman" panose="02020603050405020304" pitchFamily="18" charset="0"/>
                <a:cs typeface="Times New Roman" panose="02020603050405020304" pitchFamily="18" charset="0"/>
              </a:rPr>
              <a:t>AgroSmart</a:t>
            </a:r>
            <a:r>
              <a:rPr lang="en-US" sz="1600" dirty="0">
                <a:solidFill>
                  <a:schemeClr val="tx1"/>
                </a:solidFill>
                <a:latin typeface="Times New Roman" panose="02020603050405020304" pitchFamily="18" charset="0"/>
                <a:cs typeface="Times New Roman" panose="02020603050405020304" pitchFamily="18" charset="0"/>
              </a:rPr>
              <a:t> is an IoT-based smart agriculture system designed to address water scarcity and irrigation challenges in the hilly region of </a:t>
            </a:r>
            <a:r>
              <a:rPr lang="en-US" sz="1600" dirty="0" err="1">
                <a:solidFill>
                  <a:schemeClr val="tx1"/>
                </a:solidFill>
                <a:latin typeface="Times New Roman" panose="02020603050405020304" pitchFamily="18" charset="0"/>
                <a:cs typeface="Times New Roman" panose="02020603050405020304" pitchFamily="18" charset="0"/>
              </a:rPr>
              <a:t>Jorethang</a:t>
            </a:r>
            <a:r>
              <a:rPr lang="en-US" sz="1600" dirty="0">
                <a:solidFill>
                  <a:schemeClr val="tx1"/>
                </a:solidFill>
                <a:latin typeface="Times New Roman" panose="02020603050405020304" pitchFamily="18" charset="0"/>
                <a:cs typeface="Times New Roman" panose="02020603050405020304" pitchFamily="18" charset="0"/>
              </a:rPr>
              <a:t>, South Sikkim. The system uses Arduino/ESP32 microcontrollers and environmental sensors to monitor soil moisture, temperature, and humidity in real time, and automatically regulates irrigation based on crop-specific water requirements. It also includes an automated rainwater harvesting unit that prioritizes the use of stored rainwater during dry periods. Integrated with a cloud platform for remote monitoring and SMS alerts, </a:t>
            </a:r>
            <a:r>
              <a:rPr lang="en-US" sz="1600" dirty="0" err="1">
                <a:solidFill>
                  <a:schemeClr val="tx1"/>
                </a:solidFill>
                <a:latin typeface="Times New Roman" panose="02020603050405020304" pitchFamily="18" charset="0"/>
                <a:cs typeface="Times New Roman" panose="02020603050405020304" pitchFamily="18" charset="0"/>
              </a:rPr>
              <a:t>AgroSmart</a:t>
            </a:r>
            <a:r>
              <a:rPr lang="en-US" sz="1600" dirty="0">
                <a:solidFill>
                  <a:schemeClr val="tx1"/>
                </a:solidFill>
                <a:latin typeface="Times New Roman" panose="02020603050405020304" pitchFamily="18" charset="0"/>
                <a:cs typeface="Times New Roman" panose="02020603050405020304" pitchFamily="18" charset="0"/>
              </a:rPr>
              <a:t> improves water-use efficiency, reduces labor dependency, and supports sustainable, climate-resilient farming.</a:t>
            </a:r>
          </a:p>
          <a:p>
            <a:pPr algn="just"/>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dirty="0">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76200"/>
            <a:ext cx="8286750" cy="68707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a:ea typeface="Times New Roman" panose="02020603050405020304"/>
                <a:cs typeface="Times New Roman" panose="02020603050405020304"/>
                <a:sym typeface="Times New Roman" panose="02020603050405020304"/>
              </a:rPr>
              <a:t>Abstract with CO/PO Mapping</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pPr algn="l"/>
            <a:endParaRPr lang="en-US" dirty="0"/>
          </a:p>
        </p:txBody>
      </p:sp>
      <p:sp>
        <p:nvSpPr>
          <p:cNvPr id="4" name="Footer Placeholder 3"/>
          <p:cNvSpPr>
            <a:spLocks noGrp="1"/>
          </p:cNvSpPr>
          <p:nvPr>
            <p:ph type="ftr" sz="quarter" idx="11"/>
          </p:nvPr>
        </p:nvSpPr>
        <p:spPr>
          <a:xfrm>
            <a:off x="990600" y="6356350"/>
            <a:ext cx="7315200" cy="365125"/>
          </a:xfrm>
        </p:spPr>
        <p:txBody>
          <a:bodyPr/>
          <a:lstStyle/>
          <a:p>
            <a:r>
              <a:rPr lang="en-US"/>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5</a:t>
            </a:fld>
            <a:endParaRPr lang="en-US"/>
          </a:p>
        </p:txBody>
      </p:sp>
      <p:graphicFrame>
        <p:nvGraphicFramePr>
          <p:cNvPr id="6" name="Table 5"/>
          <p:cNvGraphicFramePr>
            <a:graphicFrameLocks noGrp="1"/>
          </p:cNvGraphicFramePr>
          <p:nvPr>
            <p:custDataLst>
              <p:tags r:id="rId1"/>
            </p:custDataLst>
            <p:extLst>
              <p:ext uri="{D42A27DB-BD31-4B8C-83A1-F6EECF244321}">
                <p14:modId xmlns:p14="http://schemas.microsoft.com/office/powerpoint/2010/main" val="703544145"/>
              </p:ext>
            </p:extLst>
          </p:nvPr>
        </p:nvGraphicFramePr>
        <p:xfrm>
          <a:off x="381000" y="914400"/>
          <a:ext cx="8347710" cy="5671820"/>
        </p:xfrm>
        <a:graphic>
          <a:graphicData uri="http://schemas.openxmlformats.org/drawingml/2006/table">
            <a:tbl>
              <a:tblPr firstRow="1" bandRow="1">
                <a:tableStyleId>{5C22544A-7EE6-4342-B048-85BDC9FD1C3A}</a:tableStyleId>
              </a:tblPr>
              <a:tblGrid>
                <a:gridCol w="577596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39878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Abstract</a:t>
                      </a:r>
                      <a:endParaRPr sz="1400" u="none" strike="noStrike" cap="none" dirty="0"/>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a:t>
                      </a:r>
                      <a:endParaRPr sz="1400" u="none" strike="noStrike" cap="none" dirty="0"/>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POs</a:t>
                      </a:r>
                      <a:endParaRPr sz="1400" u="none" strike="noStrike" cap="none" dirty="0"/>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PSO</a:t>
                      </a:r>
                      <a:endParaRPr sz="1400" u="none" strike="noStrike" cap="none" dirty="0"/>
                    </a:p>
                  </a:txBody>
                  <a:tcPr marL="91450" marR="91450" marT="45725" marB="45725"/>
                </a:tc>
                <a:extLst>
                  <a:ext uri="{0D108BD9-81ED-4DB2-BD59-A6C34878D82A}">
                    <a16:rowId xmlns:a16="http://schemas.microsoft.com/office/drawing/2014/main" val="10000"/>
                  </a:ext>
                </a:extLst>
              </a:tr>
              <a:tr h="5273040">
                <a:tc>
                  <a:txBody>
                    <a:bodyPr/>
                    <a:lstStyle/>
                    <a:p>
                      <a:pPr marL="0" marR="0" lvl="0" indent="0" algn="just" defTabSz="914400" rtl="0" eaLnBrk="1" fontAlgn="auto" latinLnBrk="0" hangingPunct="1">
                        <a:lnSpc>
                          <a:spcPct val="150000"/>
                        </a:lnSpc>
                        <a:spcBef>
                          <a:spcPts val="0"/>
                        </a:spcBef>
                        <a:spcAft>
                          <a:spcPts val="0"/>
                        </a:spcAft>
                        <a:buClr>
                          <a:schemeClr val="dk1"/>
                        </a:buClr>
                        <a:buSzPts val="1100"/>
                        <a:buFont typeface="Arial"/>
                        <a:buNone/>
                        <a:tabLst/>
                        <a:defRPr/>
                      </a:pPr>
                      <a:r>
                        <a:rPr lang="en-US" sz="1600" dirty="0" err="1">
                          <a:latin typeface="Times New Roman" panose="02020603050405020304" pitchFamily="18" charset="0"/>
                          <a:cs typeface="Times New Roman" panose="02020603050405020304" pitchFamily="18" charset="0"/>
                        </a:rPr>
                        <a:t>AgroSmart</a:t>
                      </a:r>
                      <a:r>
                        <a:rPr lang="en-US" sz="1600" dirty="0">
                          <a:latin typeface="Times New Roman" panose="02020603050405020304" pitchFamily="18" charset="0"/>
                          <a:cs typeface="Times New Roman" panose="02020603050405020304" pitchFamily="18" charset="0"/>
                        </a:rPr>
                        <a:t> is an IoT-based smart irrigation system designed for water-scarce hilly regions like </a:t>
                      </a:r>
                      <a:r>
                        <a:rPr lang="en-US" sz="1600" dirty="0" err="1">
                          <a:latin typeface="Times New Roman" panose="02020603050405020304" pitchFamily="18" charset="0"/>
                          <a:cs typeface="Times New Roman" panose="02020603050405020304" pitchFamily="18" charset="0"/>
                        </a:rPr>
                        <a:t>Jorethang</a:t>
                      </a:r>
                      <a:r>
                        <a:rPr lang="en-US" sz="1600" dirty="0">
                          <a:latin typeface="Times New Roman" panose="02020603050405020304" pitchFamily="18" charset="0"/>
                          <a:cs typeface="Times New Roman" panose="02020603050405020304" pitchFamily="18" charset="0"/>
                        </a:rPr>
                        <a:t>, South Sikkim. It monitors soil and environmental conditions in real time and automatically controls irrigation based on crop needs while utilizing harvested rainwater. The system enables remote monitoring and alerts, improving water efficiency, reducing labor, and promoting sustainable farming.</a:t>
                      </a:r>
                    </a:p>
                    <a:p>
                      <a:pPr marL="0" marR="0" lvl="0" indent="0" algn="just" rtl="0">
                        <a:lnSpc>
                          <a:spcPct val="100000"/>
                        </a:lnSpc>
                        <a:spcBef>
                          <a:spcPts val="0"/>
                        </a:spcBef>
                        <a:spcAft>
                          <a:spcPts val="0"/>
                        </a:spcAft>
                        <a:buClr>
                          <a:schemeClr val="dk1"/>
                        </a:buClr>
                        <a:buSzPts val="1100"/>
                        <a:buFont typeface="Arial" panose="020B0604020202020204"/>
                        <a:buNone/>
                      </a:pP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dirty="0">
                          <a:latin typeface="Times New Roman" panose="02020603050405020304" pitchFamily="18" charset="0"/>
                          <a:ea typeface="Times New Roman"/>
                          <a:cs typeface="Times New Roman" panose="02020603050405020304" pitchFamily="18" charset="0"/>
                          <a:sym typeface="Times New Roman"/>
                        </a:rPr>
                        <a:t>CO1</a:t>
                      </a:r>
                    </a:p>
                    <a:p>
                      <a:pPr marL="0" marR="0" lvl="0" indent="0" algn="l" rtl="0">
                        <a:lnSpc>
                          <a:spcPct val="100000"/>
                        </a:lnSpc>
                        <a:spcBef>
                          <a:spcPts val="0"/>
                        </a:spcBef>
                        <a:spcAft>
                          <a:spcPts val="0"/>
                        </a:spcAft>
                        <a:buClr>
                          <a:srgbClr val="000000"/>
                        </a:buClr>
                        <a:buSzPts val="1800"/>
                        <a:buFont typeface="Arial" panose="020B0604020202020204"/>
                        <a:buNone/>
                      </a:pPr>
                      <a:r>
                        <a:rPr lang="en-US" sz="1800" dirty="0">
                          <a:latin typeface="Times New Roman" panose="02020603050405020304" pitchFamily="18" charset="0"/>
                          <a:ea typeface="Times New Roman"/>
                          <a:cs typeface="Times New Roman" panose="02020603050405020304" pitchFamily="18" charset="0"/>
                          <a:sym typeface="Times New Roman"/>
                        </a:rPr>
                        <a:t>CO2</a:t>
                      </a:r>
                    </a:p>
                    <a:p>
                      <a:pPr marL="0" marR="0" lvl="0" indent="0" algn="l" rtl="0">
                        <a:lnSpc>
                          <a:spcPct val="100000"/>
                        </a:lnSpc>
                        <a:spcBef>
                          <a:spcPts val="0"/>
                        </a:spcBef>
                        <a:spcAft>
                          <a:spcPts val="0"/>
                        </a:spcAft>
                        <a:buClr>
                          <a:srgbClr val="000000"/>
                        </a:buClr>
                        <a:buSzPts val="1800"/>
                        <a:buFont typeface="Arial" panose="020B0604020202020204"/>
                        <a:buNone/>
                      </a:pPr>
                      <a:r>
                        <a:rPr lang="en-US" sz="1800" dirty="0">
                          <a:latin typeface="Times New Roman" panose="02020603050405020304" pitchFamily="18" charset="0"/>
                          <a:ea typeface="Times New Roman"/>
                          <a:cs typeface="Times New Roman" panose="02020603050405020304" pitchFamily="18" charset="0"/>
                          <a:sym typeface="Times New Roman"/>
                        </a:rPr>
                        <a:t>CO3</a:t>
                      </a:r>
                    </a:p>
                    <a:p>
                      <a:pPr marL="0" marR="0" lvl="0" indent="0" algn="l" rtl="0">
                        <a:lnSpc>
                          <a:spcPct val="100000"/>
                        </a:lnSpc>
                        <a:spcBef>
                          <a:spcPts val="0"/>
                        </a:spcBef>
                        <a:spcAft>
                          <a:spcPts val="0"/>
                        </a:spcAft>
                        <a:buClr>
                          <a:srgbClr val="000000"/>
                        </a:buClr>
                        <a:buSzPts val="1800"/>
                        <a:buFont typeface="Arial" panose="020B0604020202020204"/>
                        <a:buNone/>
                      </a:pPr>
                      <a:r>
                        <a:rPr lang="en-US" sz="1800" dirty="0">
                          <a:latin typeface="Times New Roman" panose="02020603050405020304" pitchFamily="18" charset="0"/>
                          <a:ea typeface="Times New Roman"/>
                          <a:cs typeface="Times New Roman" panose="02020603050405020304" pitchFamily="18" charset="0"/>
                          <a:sym typeface="Times New Roman"/>
                        </a:rPr>
                        <a:t>CO4</a:t>
                      </a:r>
                    </a:p>
                    <a:p>
                      <a:pPr marL="0" marR="0" lvl="0" indent="0" algn="l" rtl="0">
                        <a:lnSpc>
                          <a:spcPct val="100000"/>
                        </a:lnSpc>
                        <a:spcBef>
                          <a:spcPts val="0"/>
                        </a:spcBef>
                        <a:spcAft>
                          <a:spcPts val="0"/>
                        </a:spcAft>
                        <a:buClr>
                          <a:srgbClr val="000000"/>
                        </a:buClr>
                        <a:buSzPts val="1800"/>
                        <a:buFont typeface="Arial" panose="020B0604020202020204"/>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panose="020B0604020202020204"/>
                        <a:buNone/>
                        <a:tabLst/>
                        <a:defRPr/>
                      </a:pPr>
                      <a:r>
                        <a:rPr lang="en-US" sz="1800" kern="1200" dirty="0">
                          <a:solidFill>
                            <a:schemeClr val="dk1"/>
                          </a:solidFill>
                          <a:effectLst/>
                          <a:latin typeface="+mn-lt"/>
                          <a:ea typeface="+mn-ea"/>
                          <a:cs typeface="+mn-cs"/>
                        </a:rPr>
                        <a:t>PO1 PO2 PO3 PO5 PO6 PO8 PO9 PO10 PO11</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800"/>
                        <a:buFont typeface="Arial" panose="020B0604020202020204"/>
                        <a:buNone/>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IN" sz="1800" dirty="0">
                          <a:solidFill>
                            <a:schemeClr val="tx1"/>
                          </a:solidFill>
                          <a:latin typeface="Times New Roman" panose="02020603050405020304" pitchFamily="18" charset="0"/>
                          <a:ea typeface="Times New Roman"/>
                          <a:cs typeface="Times New Roman" panose="02020603050405020304" pitchFamily="18" charset="0"/>
                          <a:sym typeface="Times New Roman"/>
                        </a:rPr>
                        <a:t>PSO1</a:t>
                      </a:r>
                    </a:p>
                    <a:p>
                      <a:pPr marL="0" marR="0" lvl="0" indent="0" algn="ctr" rtl="0">
                        <a:lnSpc>
                          <a:spcPct val="100000"/>
                        </a:lnSpc>
                        <a:spcBef>
                          <a:spcPts val="0"/>
                        </a:spcBef>
                        <a:spcAft>
                          <a:spcPts val="0"/>
                        </a:spcAft>
                        <a:buClr>
                          <a:srgbClr val="000000"/>
                        </a:buClr>
                        <a:buSzPts val="1800"/>
                        <a:buFont typeface="Arial" panose="020B0604020202020204"/>
                        <a:buNone/>
                      </a:pPr>
                      <a:r>
                        <a:rPr lang="en-IN" sz="1800" dirty="0">
                          <a:solidFill>
                            <a:schemeClr val="tx1"/>
                          </a:solidFill>
                          <a:latin typeface="Times New Roman" panose="02020603050405020304" pitchFamily="18" charset="0"/>
                          <a:ea typeface="Times New Roman"/>
                          <a:cs typeface="Times New Roman" panose="02020603050405020304" pitchFamily="18" charset="0"/>
                          <a:sym typeface="Times New Roman"/>
                        </a:rPr>
                        <a:t>PSO2</a:t>
                      </a:r>
                      <a:endParaRPr lang="en-US" sz="1800"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1800"/>
                        <a:buFont typeface="Arial" panose="020B0604020202020204"/>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447800"/>
            <a:ext cx="7772400" cy="4643755"/>
          </a:xfrm>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50000"/>
              </a:lnSpc>
            </a:pPr>
            <a:r>
              <a:rPr lang="en-US" sz="1600" dirty="0" err="1">
                <a:solidFill>
                  <a:schemeClr val="tx1"/>
                </a:solidFill>
                <a:latin typeface="Times New Roman" panose="02020603050405020304" pitchFamily="18" charset="0"/>
                <a:cs typeface="Times New Roman" panose="02020603050405020304" pitchFamily="18" charset="0"/>
              </a:rPr>
              <a:t>AgroSmart</a:t>
            </a:r>
            <a:r>
              <a:rPr lang="en-US" sz="1600" dirty="0">
                <a:solidFill>
                  <a:schemeClr val="tx1"/>
                </a:solidFill>
                <a:latin typeface="Times New Roman" panose="02020603050405020304" pitchFamily="18" charset="0"/>
                <a:cs typeface="Times New Roman" panose="02020603050405020304" pitchFamily="18" charset="0"/>
              </a:rPr>
              <a:t> is an IoT-based automation system designed to tackle the unique agricultural challenges of hilly regions like </a:t>
            </a:r>
            <a:r>
              <a:rPr lang="en-US" sz="1600" dirty="0" err="1">
                <a:solidFill>
                  <a:schemeClr val="tx1"/>
                </a:solidFill>
                <a:latin typeface="Times New Roman" panose="02020603050405020304" pitchFamily="18" charset="0"/>
                <a:cs typeface="Times New Roman" panose="02020603050405020304" pitchFamily="18" charset="0"/>
              </a:rPr>
              <a:t>Jorethang</a:t>
            </a:r>
            <a:r>
              <a:rPr lang="en-US" sz="1600" dirty="0">
                <a:solidFill>
                  <a:schemeClr val="tx1"/>
                </a:solidFill>
                <a:latin typeface="Times New Roman" panose="02020603050405020304" pitchFamily="18" charset="0"/>
                <a:cs typeface="Times New Roman" panose="02020603050405020304" pitchFamily="18" charset="0"/>
              </a:rPr>
              <a:t>, South Sikkim. By integrating microcontrollers and real-time sensors, the system monitors soil moisture and climate conditions to automate irrigation, preventing water waste and reducing manual labor. To ensure sustainability in water-scarce areas, it features an automated rainwater harvesting component and cloud connectivity for remote monitoring. Ultimately, </a:t>
            </a:r>
            <a:r>
              <a:rPr lang="en-US" sz="1600" dirty="0" err="1">
                <a:solidFill>
                  <a:schemeClr val="tx1"/>
                </a:solidFill>
                <a:latin typeface="Times New Roman" panose="02020603050405020304" pitchFamily="18" charset="0"/>
                <a:cs typeface="Times New Roman" panose="02020603050405020304" pitchFamily="18" charset="0"/>
              </a:rPr>
              <a:t>AgroSmart</a:t>
            </a:r>
            <a:r>
              <a:rPr lang="en-US" sz="1600" dirty="0">
                <a:solidFill>
                  <a:schemeClr val="tx1"/>
                </a:solidFill>
                <a:latin typeface="Times New Roman" panose="02020603050405020304" pitchFamily="18" charset="0"/>
                <a:cs typeface="Times New Roman" panose="02020603050405020304" pitchFamily="18" charset="0"/>
              </a:rPr>
              <a:t> empowers farmers with a climate-resilient solution to boost crop productivity and conserve vital resources</a:t>
            </a:r>
          </a:p>
          <a:p>
            <a:pPr algn="just">
              <a:lnSpc>
                <a:spcPct val="150000"/>
              </a:lnSpc>
            </a:pP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6" name="Slide Number Placeholder 5"/>
          <p:cNvSpPr>
            <a:spLocks noGrp="1"/>
          </p:cNvSpPr>
          <p:nvPr>
            <p:ph type="sldNum" sz="quarter" idx="12"/>
          </p:nvPr>
        </p:nvSpPr>
        <p:spPr/>
        <p:txBody>
          <a:bodyPr/>
          <a:lstStyle/>
          <a:p>
            <a:fld id="{66391149-F702-42CD-87F1-8E83746A2FC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rPr>
              <a:t>DBMS Concepts Used</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10293"/>
            <a:ext cx="7772400" cy="4643755"/>
          </a:xfrm>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50000"/>
              </a:lnSpc>
            </a:pPr>
            <a:r>
              <a:rPr lang="en-US" sz="1600" dirty="0">
                <a:solidFill>
                  <a:schemeClr val="tx1"/>
                </a:solidFill>
                <a:latin typeface="Times New Roman" panose="02020603050405020304" pitchFamily="18" charset="0"/>
                <a:cs typeface="Times New Roman" panose="02020603050405020304" pitchFamily="18" charset="0"/>
              </a:rPr>
              <a:t>The project utilizes a </a:t>
            </a:r>
            <a:r>
              <a:rPr lang="en-US" sz="1600" b="1" dirty="0">
                <a:solidFill>
                  <a:schemeClr val="tx1"/>
                </a:solidFill>
                <a:latin typeface="Times New Roman" panose="02020603050405020304" pitchFamily="18" charset="0"/>
                <a:cs typeface="Times New Roman" panose="02020603050405020304" pitchFamily="18" charset="0"/>
              </a:rPr>
              <a:t>heterogeneous database</a:t>
            </a:r>
            <a:r>
              <a:rPr lang="en-US" sz="1600" dirty="0">
                <a:solidFill>
                  <a:schemeClr val="tx1"/>
                </a:solidFill>
                <a:latin typeface="Times New Roman" panose="02020603050405020304" pitchFamily="18" charset="0"/>
                <a:cs typeface="Times New Roman" panose="02020603050405020304" pitchFamily="18" charset="0"/>
              </a:rPr>
              <a:t> architecture to efficiently manage diverse types of agricultural information. While </a:t>
            </a:r>
            <a:r>
              <a:rPr lang="en-US" sz="1600" dirty="0" err="1">
                <a:solidFill>
                  <a:schemeClr val="tx1"/>
                </a:solidFill>
                <a:latin typeface="Times New Roman" panose="02020603050405020304" pitchFamily="18" charset="0"/>
                <a:cs typeface="Times New Roman" panose="02020603050405020304" pitchFamily="18" charset="0"/>
              </a:rPr>
              <a:t>Supabase</a:t>
            </a:r>
            <a:r>
              <a:rPr lang="en-US" sz="1600" dirty="0">
                <a:solidFill>
                  <a:schemeClr val="tx1"/>
                </a:solidFill>
                <a:latin typeface="Times New Roman" panose="02020603050405020304" pitchFamily="18" charset="0"/>
                <a:cs typeface="Times New Roman" panose="02020603050405020304" pitchFamily="18" charset="0"/>
              </a:rPr>
              <a:t> SQL handles structured data like user profiles and field boundaries, </a:t>
            </a:r>
            <a:r>
              <a:rPr lang="en-US" sz="1600" b="1" dirty="0">
                <a:solidFill>
                  <a:schemeClr val="tx1"/>
                </a:solidFill>
                <a:latin typeface="Times New Roman" panose="02020603050405020304" pitchFamily="18" charset="0"/>
                <a:cs typeface="Times New Roman" panose="02020603050405020304" pitchFamily="18" charset="0"/>
              </a:rPr>
              <a:t>MongoDB</a:t>
            </a:r>
            <a:r>
              <a:rPr lang="en-US" sz="1600" dirty="0">
                <a:solidFill>
                  <a:schemeClr val="tx1"/>
                </a:solidFill>
                <a:latin typeface="Times New Roman" panose="02020603050405020304" pitchFamily="18" charset="0"/>
                <a:cs typeface="Times New Roman" panose="02020603050405020304" pitchFamily="18" charset="0"/>
              </a:rPr>
              <a:t> is integrated to manage unstructured IoT sensor logs. This NoSQL approach allows for a flexible schema that can easily store varying JSON data packets sent by the ESP32. By combining relational and non-relational models, the system achieves superior scalability and data processing speeds. Additionally, this heterogeneous environment ensures that high-frequency environmental readings do not slow down core administrative tasks. The use of MongoDB specifically supports the storage of complex sensor arrays that may change over time. Ultimately, this multi-database strategy provides a robust and future-proof foundation for smart city agricultural analytics.</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6" name="Slide Number Placeholder 5"/>
          <p:cNvSpPr>
            <a:spLocks noGrp="1"/>
          </p:cNvSpPr>
          <p:nvPr>
            <p:ph type="sldNum" sz="quarter" idx="12"/>
          </p:nvPr>
        </p:nvSpPr>
        <p:spPr/>
        <p:txBody>
          <a:bodyPr/>
          <a:lstStyle/>
          <a:p>
            <a:fld id="{66391149-F702-42CD-87F1-8E83746A2FC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1955" y="381000"/>
            <a:ext cx="7997825"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rPr>
              <a:t>E-R DIAGRAM</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924800" cy="4648200"/>
          </a:xfrm>
        </p:spPr>
        <p:style>
          <a:lnRef idx="2">
            <a:schemeClr val="accent2"/>
          </a:lnRef>
          <a:fillRef idx="1">
            <a:schemeClr val="lt1"/>
          </a:fillRef>
          <a:effectRef idx="0">
            <a:schemeClr val="accent2"/>
          </a:effectRef>
          <a:fontRef idx="minor">
            <a:schemeClr val="dk1"/>
          </a:fontRef>
        </p:style>
        <p:txBody>
          <a:bodyPr>
            <a:normAutofit/>
          </a:bodyPr>
          <a:lstStyle/>
          <a:p>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8</a:t>
            </a:fld>
            <a:endParaRPr lang="en-US"/>
          </a:p>
        </p:txBody>
      </p:sp>
      <p:pic>
        <p:nvPicPr>
          <p:cNvPr id="5" name="Picture 4">
            <a:extLst>
              <a:ext uri="{FF2B5EF4-FFF2-40B4-BE49-F238E27FC236}">
                <a16:creationId xmlns:a16="http://schemas.microsoft.com/office/drawing/2014/main" id="{2BBC09D5-7EB1-1E5E-42E5-1642D8890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06110"/>
            <a:ext cx="7924800" cy="472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a:ea typeface="Times New Roman" panose="02020603050405020304"/>
                <a:cs typeface="Times New Roman" panose="02020603050405020304"/>
                <a:sym typeface="Times New Roman" panose="02020603050405020304"/>
              </a:rPr>
              <a:t>Proposed Architecture</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9</a:t>
            </a:fld>
            <a:endParaRPr lang="en-US"/>
          </a:p>
        </p:txBody>
      </p:sp>
      <p:pic>
        <p:nvPicPr>
          <p:cNvPr id="8" name="Picture 7">
            <a:extLst>
              <a:ext uri="{FF2B5EF4-FFF2-40B4-BE49-F238E27FC236}">
                <a16:creationId xmlns:a16="http://schemas.microsoft.com/office/drawing/2014/main" id="{CD361316-EF6B-DD2A-ED40-8A14A8AA6479}"/>
              </a:ext>
            </a:extLst>
          </p:cNvPr>
          <p:cNvPicPr>
            <a:picLocks noChangeAspect="1"/>
          </p:cNvPicPr>
          <p:nvPr/>
        </p:nvPicPr>
        <p:blipFill>
          <a:blip r:embed="rId3"/>
          <a:stretch>
            <a:fillRect/>
          </a:stretch>
        </p:blipFill>
        <p:spPr>
          <a:xfrm>
            <a:off x="1540510" y="1672807"/>
            <a:ext cx="5715000" cy="43505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a:ea typeface="Times New Roman" panose="02020603050405020304"/>
                <a:cs typeface="Times New Roman" panose="02020603050405020304"/>
                <a:sym typeface="Times New Roman" panose="02020603050405020304"/>
              </a:rPr>
              <a:t>Proposed Architecture</a:t>
            </a:r>
            <a:r>
              <a:rPr lang="en-US" sz="3200" b="1">
                <a:latin typeface="Times New Roman" panose="02020603050405020304"/>
                <a:ea typeface="Times New Roman" panose="02020603050405020304"/>
                <a:cs typeface="Times New Roman" panose="02020603050405020304"/>
                <a:sym typeface="Times New Roman" panose="02020603050405020304"/>
              </a:rPr>
              <a:t>- Description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50000"/>
              </a:lnSpc>
            </a:pPr>
            <a:r>
              <a:rPr lang="en-US" sz="1600" dirty="0">
                <a:solidFill>
                  <a:schemeClr val="tx1"/>
                </a:solidFill>
                <a:latin typeface="Times New Roman" panose="02020603050405020304" pitchFamily="18" charset="0"/>
                <a:cs typeface="Times New Roman" panose="02020603050405020304" pitchFamily="18" charset="0"/>
              </a:rPr>
              <a:t>The architecture follows a multi-tier flow starting at the </a:t>
            </a:r>
            <a:r>
              <a:rPr lang="en-US" sz="1600" b="1" dirty="0">
                <a:solidFill>
                  <a:schemeClr val="tx1"/>
                </a:solidFill>
                <a:latin typeface="Times New Roman" panose="02020603050405020304" pitchFamily="18" charset="0"/>
                <a:cs typeface="Times New Roman" panose="02020603050405020304" pitchFamily="18" charset="0"/>
              </a:rPr>
              <a:t>Perception Layer</a:t>
            </a:r>
            <a:r>
              <a:rPr lang="en-US" sz="1600" dirty="0">
                <a:solidFill>
                  <a:schemeClr val="tx1"/>
                </a:solidFill>
                <a:latin typeface="Times New Roman" panose="02020603050405020304" pitchFamily="18" charset="0"/>
                <a:cs typeface="Times New Roman" panose="02020603050405020304" pitchFamily="18" charset="0"/>
              </a:rPr>
              <a:t>, where localized sensors collect soil and weather data. This information is processed by the </a:t>
            </a:r>
            <a:r>
              <a:rPr lang="en-US" sz="1600" b="1" dirty="0">
                <a:solidFill>
                  <a:schemeClr val="tx1"/>
                </a:solidFill>
                <a:latin typeface="Times New Roman" panose="02020603050405020304" pitchFamily="18" charset="0"/>
                <a:cs typeface="Times New Roman" panose="02020603050405020304" pitchFamily="18" charset="0"/>
              </a:rPr>
              <a:t>Control Layer</a:t>
            </a:r>
            <a:r>
              <a:rPr lang="en-US" sz="1600" dirty="0">
                <a:solidFill>
                  <a:schemeClr val="tx1"/>
                </a:solidFill>
                <a:latin typeface="Times New Roman" panose="02020603050405020304" pitchFamily="18" charset="0"/>
                <a:cs typeface="Times New Roman" panose="02020603050405020304" pitchFamily="18" charset="0"/>
              </a:rPr>
              <a:t>, which features an ESP32 microcontroller executing a specialized "Triple-Condition" logic gate. If soil moisture is low, temperature is high, and no rain is detected, the system triggers the hardware actuators to begin irrigation. All event data, including biometric security profiles and field coordinates, are securely stored in the </a:t>
            </a:r>
            <a:r>
              <a:rPr lang="en-US" sz="1600" b="1" dirty="0" err="1">
                <a:solidFill>
                  <a:schemeClr val="tx1"/>
                </a:solidFill>
                <a:latin typeface="Times New Roman" panose="02020603050405020304" pitchFamily="18" charset="0"/>
                <a:cs typeface="Times New Roman" panose="02020603050405020304" pitchFamily="18" charset="0"/>
              </a:rPr>
              <a:t>Supabase</a:t>
            </a:r>
            <a:r>
              <a:rPr lang="en-US" sz="1600" b="1" dirty="0">
                <a:solidFill>
                  <a:schemeClr val="tx1"/>
                </a:solidFill>
                <a:latin typeface="Times New Roman" panose="02020603050405020304" pitchFamily="18" charset="0"/>
                <a:cs typeface="Times New Roman" panose="02020603050405020304" pitchFamily="18" charset="0"/>
              </a:rPr>
              <a:t> SQL</a:t>
            </a:r>
            <a:r>
              <a:rPr lang="en-US" sz="1600" dirty="0">
                <a:solidFill>
                  <a:schemeClr val="tx1"/>
                </a:solidFill>
                <a:latin typeface="Times New Roman" panose="02020603050405020304" pitchFamily="18" charset="0"/>
                <a:cs typeface="Times New Roman" panose="02020603050405020304" pitchFamily="18" charset="0"/>
              </a:rPr>
              <a:t> and MongoDB database layers. Subsequently, the </a:t>
            </a:r>
            <a:r>
              <a:rPr lang="en-US" sz="1600" b="1" dirty="0" err="1">
                <a:solidFill>
                  <a:schemeClr val="tx1"/>
                </a:solidFill>
                <a:latin typeface="Times New Roman" panose="02020603050405020304" pitchFamily="18" charset="0"/>
                <a:cs typeface="Times New Roman" panose="02020603050405020304" pitchFamily="18" charset="0"/>
              </a:rPr>
              <a:t>FastAPI</a:t>
            </a:r>
            <a:r>
              <a:rPr lang="en-US" sz="1600" b="1" dirty="0">
                <a:solidFill>
                  <a:schemeClr val="tx1"/>
                </a:solidFill>
                <a:latin typeface="Times New Roman" panose="02020603050405020304" pitchFamily="18" charset="0"/>
                <a:cs typeface="Times New Roman" panose="02020603050405020304" pitchFamily="18" charset="0"/>
              </a:rPr>
              <a:t> backend</a:t>
            </a:r>
            <a:r>
              <a:rPr lang="en-US" sz="1600" dirty="0">
                <a:solidFill>
                  <a:schemeClr val="tx1"/>
                </a:solidFill>
                <a:latin typeface="Times New Roman" panose="02020603050405020304" pitchFamily="18" charset="0"/>
                <a:cs typeface="Times New Roman" panose="02020603050405020304" pitchFamily="18" charset="0"/>
              </a:rPr>
              <a:t> manages the communication between the stored data and the user interface. Farmers interact with a </a:t>
            </a:r>
            <a:r>
              <a:rPr lang="en-US" sz="1600" b="1" dirty="0">
                <a:solidFill>
                  <a:schemeClr val="tx1"/>
                </a:solidFill>
                <a:latin typeface="Times New Roman" panose="02020603050405020304" pitchFamily="18" charset="0"/>
                <a:cs typeface="Times New Roman" panose="02020603050405020304" pitchFamily="18" charset="0"/>
              </a:rPr>
              <a:t>React JS dashboard</a:t>
            </a:r>
            <a:r>
              <a:rPr lang="en-US" sz="1600" dirty="0">
                <a:solidFill>
                  <a:schemeClr val="tx1"/>
                </a:solidFill>
                <a:latin typeface="Times New Roman" panose="02020603050405020304" pitchFamily="18" charset="0"/>
                <a:cs typeface="Times New Roman" panose="02020603050405020304" pitchFamily="18" charset="0"/>
              </a:rPr>
              <a:t> to monitor real-time field conditions and perform spatial mapping. Finally, the </a:t>
            </a:r>
            <a:r>
              <a:rPr lang="en-US" sz="1600" b="1" dirty="0">
                <a:solidFill>
                  <a:schemeClr val="tx1"/>
                </a:solidFill>
                <a:latin typeface="Times New Roman" panose="02020603050405020304" pitchFamily="18" charset="0"/>
                <a:cs typeface="Times New Roman" panose="02020603050405020304" pitchFamily="18" charset="0"/>
              </a:rPr>
              <a:t>IBM Cognos</a:t>
            </a:r>
            <a:r>
              <a:rPr lang="en-US" sz="1600" dirty="0">
                <a:solidFill>
                  <a:schemeClr val="tx1"/>
                </a:solidFill>
                <a:latin typeface="Times New Roman" panose="02020603050405020304" pitchFamily="18" charset="0"/>
                <a:cs typeface="Times New Roman" panose="02020603050405020304" pitchFamily="18" charset="0"/>
              </a:rPr>
              <a:t> layer transforms raw logs into strategic trend charts and automated performance reports. Future enhancements will integrate satellite sensing and CNN-based image analysis to further automate crop health monitoring</a:t>
            </a: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a:ea typeface="Times New Roman" panose="02020603050405020304"/>
                <a:cs typeface="Times New Roman" panose="02020603050405020304"/>
                <a:sym typeface="Times New Roman" panose="02020603050405020304"/>
              </a:rPr>
              <a:t>List of Modules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User Management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Map-Based Field Selection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Area Calculation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Sensor Management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Pipe Connection Planning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AI Irrigation Decision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IoT Data Monitoring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Notification &amp; Alert Module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Dashboard &amp; Reporting Module </a:t>
            </a:r>
          </a:p>
          <a:p>
            <a:pPr lvl="3" algn="just">
              <a:lnSpc>
                <a:spcPct val="200000"/>
              </a:lnSpc>
              <a:buFont typeface="Wingdings" panose="05000000000000000000" charset="0"/>
            </a:pPr>
            <a:endParaRPr lang="en-US" altLang="en-US" sz="18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a:ea typeface="Times New Roman" panose="02020603050405020304"/>
                <a:cs typeface="Times New Roman" panose="02020603050405020304"/>
                <a:sym typeface="Times New Roman" panose="02020603050405020304"/>
              </a:rPr>
              <a:t>Module Description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32890"/>
            <a:ext cx="7945120" cy="4872355"/>
          </a:xfrm>
        </p:spPr>
        <p:style>
          <a:lnRef idx="2">
            <a:schemeClr val="accent2"/>
          </a:lnRef>
          <a:fillRef idx="1">
            <a:schemeClr val="lt1"/>
          </a:fillRef>
          <a:effectRef idx="0">
            <a:schemeClr val="accent2"/>
          </a:effectRef>
          <a:fontRef idx="minor">
            <a:schemeClr val="dk1"/>
          </a:fontRef>
        </p:style>
        <p:txBody>
          <a:bodyPr>
            <a:noAutofit/>
          </a:bodyPr>
          <a:lstStyle/>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User Management Module:</a:t>
            </a:r>
            <a:r>
              <a:rPr lang="en-US" altLang="en-US" sz="1600" dirty="0">
                <a:solidFill>
                  <a:schemeClr val="tx1"/>
                </a:solidFill>
                <a:latin typeface="Times New Roman" panose="02020603050405020304" pitchFamily="18" charset="0"/>
                <a:cs typeface="Times New Roman" panose="02020603050405020304" pitchFamily="18" charset="0"/>
              </a:rPr>
              <a:t> Handles user registration, login, and role-based access control for admins and farmers.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Map-Based Field Selection Module:</a:t>
            </a:r>
            <a:r>
              <a:rPr lang="en-US" altLang="en-US" sz="1600" dirty="0">
                <a:solidFill>
                  <a:schemeClr val="tx1"/>
                </a:solidFill>
                <a:latin typeface="Times New Roman" panose="02020603050405020304" pitchFamily="18" charset="0"/>
                <a:cs typeface="Times New Roman" panose="02020603050405020304" pitchFamily="18" charset="0"/>
              </a:rPr>
              <a:t> Enables users to draw and select agricultural fields on an interactive digital map.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Area Calculation Module:</a:t>
            </a:r>
            <a:r>
              <a:rPr lang="en-US" altLang="en-US" sz="1600" dirty="0">
                <a:solidFill>
                  <a:schemeClr val="tx1"/>
                </a:solidFill>
                <a:latin typeface="Times New Roman" panose="02020603050405020304" pitchFamily="18" charset="0"/>
                <a:cs typeface="Times New Roman" panose="02020603050405020304" pitchFamily="18" charset="0"/>
              </a:rPr>
              <a:t> Computes total field area, selected area, and percentage coverage in standard units.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Sensor Management Module:</a:t>
            </a:r>
            <a:r>
              <a:rPr lang="en-US" altLang="en-US" sz="1600" dirty="0">
                <a:solidFill>
                  <a:schemeClr val="tx1"/>
                </a:solidFill>
                <a:latin typeface="Times New Roman" panose="02020603050405020304" pitchFamily="18" charset="0"/>
                <a:cs typeface="Times New Roman" panose="02020603050405020304" pitchFamily="18" charset="0"/>
              </a:rPr>
              <a:t> Manages IoT sensors by tracking their location, status, and real-time data.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Pipe Connection Planning Module:</a:t>
            </a:r>
            <a:r>
              <a:rPr lang="en-US" altLang="en-US" sz="1600" dirty="0">
                <a:solidFill>
                  <a:schemeClr val="tx1"/>
                </a:solidFill>
                <a:latin typeface="Times New Roman" panose="02020603050405020304" pitchFamily="18" charset="0"/>
                <a:cs typeface="Times New Roman" panose="02020603050405020304" pitchFamily="18" charset="0"/>
              </a:rPr>
              <a:t> Designs efficient pipeline layouts and divides the field into irrigation zones.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AI Irrigation Decision Module:</a:t>
            </a:r>
            <a:r>
              <a:rPr lang="en-US" altLang="en-US" sz="1600" dirty="0">
                <a:solidFill>
                  <a:schemeClr val="tx1"/>
                </a:solidFill>
                <a:latin typeface="Times New Roman" panose="02020603050405020304" pitchFamily="18" charset="0"/>
                <a:cs typeface="Times New Roman" panose="02020603050405020304" pitchFamily="18" charset="0"/>
              </a:rPr>
              <a:t> Analyzes sensor and environmental data to generate optimal irrigation schedules.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IoT Data Monitoring Module:</a:t>
            </a:r>
            <a:r>
              <a:rPr lang="en-US" altLang="en-US" sz="1600" dirty="0">
                <a:solidFill>
                  <a:schemeClr val="tx1"/>
                </a:solidFill>
                <a:latin typeface="Times New Roman" panose="02020603050405020304" pitchFamily="18" charset="0"/>
                <a:cs typeface="Times New Roman" panose="02020603050405020304" pitchFamily="18" charset="0"/>
              </a:rPr>
              <a:t> Collects and transmits real-time field data from sensors to the backend system.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Notification &amp; Alert Module:</a:t>
            </a:r>
            <a:r>
              <a:rPr lang="en-US" altLang="en-US" sz="1600" dirty="0">
                <a:solidFill>
                  <a:schemeClr val="tx1"/>
                </a:solidFill>
                <a:latin typeface="Times New Roman" panose="02020603050405020304" pitchFamily="18" charset="0"/>
                <a:cs typeface="Times New Roman" panose="02020603050405020304" pitchFamily="18" charset="0"/>
              </a:rPr>
              <a:t> Sends alerts for critical conditions like low moisture or system failures. </a:t>
            </a:r>
          </a:p>
          <a:p>
            <a:pPr lvl="0" algn="just" eaLnBrk="0" fontAlgn="base" hangingPunct="0">
              <a:spcBef>
                <a:spcPct val="0"/>
              </a:spcBef>
              <a:spcAft>
                <a:spcPct val="0"/>
              </a:spcAft>
            </a:pPr>
            <a:r>
              <a:rPr lang="en-US" altLang="en-US" sz="1600" b="1" dirty="0">
                <a:solidFill>
                  <a:schemeClr val="tx1"/>
                </a:solidFill>
                <a:latin typeface="Times New Roman" panose="02020603050405020304" pitchFamily="18" charset="0"/>
                <a:cs typeface="Times New Roman" panose="02020603050405020304" pitchFamily="18" charset="0"/>
              </a:rPr>
              <a:t>Dashboard &amp; Reporting Module:</a:t>
            </a:r>
            <a:r>
              <a:rPr lang="en-US" altLang="en-US" sz="1600" dirty="0">
                <a:solidFill>
                  <a:schemeClr val="tx1"/>
                </a:solidFill>
                <a:latin typeface="Times New Roman" panose="02020603050405020304" pitchFamily="18" charset="0"/>
                <a:cs typeface="Times New Roman" panose="02020603050405020304" pitchFamily="18" charset="0"/>
              </a:rPr>
              <a:t> Displays field analytics, sensor data, and irrigation insights through a user-friendly interface. </a:t>
            </a:r>
          </a:p>
          <a:p>
            <a:pPr algn="just">
              <a:lnSpc>
                <a:spcPct val="100000"/>
              </a:lnSpc>
            </a:pP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Software Specification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pPr marL="914400" lvl="2" indent="457200" algn="l" rtl="0">
              <a:lnSpc>
                <a:spcPct val="150000"/>
              </a:lnSpc>
              <a:spcBef>
                <a:spcPts val="0"/>
              </a:spcBef>
              <a:spcAft>
                <a:spcPts val="0"/>
              </a:spcAft>
              <a:buSzPts val="912"/>
              <a:buNone/>
            </a:pPr>
            <a:r>
              <a:rPr lang="en-US"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Frontend: </a:t>
            </a:r>
            <a:r>
              <a:rPr lang="en-US"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REACT JS</a:t>
            </a:r>
            <a:endParaRPr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914400" lvl="2" indent="457200" algn="l" rtl="0">
              <a:lnSpc>
                <a:spcPct val="150000"/>
              </a:lnSpc>
              <a:spcBef>
                <a:spcPts val="500"/>
              </a:spcBef>
              <a:spcAft>
                <a:spcPts val="0"/>
              </a:spcAft>
              <a:buSzPts val="912"/>
              <a:buNone/>
            </a:pPr>
            <a:r>
              <a:rPr lang="en-US"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Backend:</a:t>
            </a:r>
            <a:r>
              <a:rPr lang="en-US"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PYTHON(FAST API)</a:t>
            </a:r>
            <a:endParaRPr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914400" lvl="2" indent="457200" algn="l" rtl="0">
              <a:lnSpc>
                <a:spcPct val="150000"/>
              </a:lnSpc>
              <a:spcBef>
                <a:spcPts val="500"/>
              </a:spcBef>
              <a:spcAft>
                <a:spcPts val="0"/>
              </a:spcAft>
              <a:buSzPts val="912"/>
              <a:buNone/>
            </a:pPr>
            <a:r>
              <a:rPr lang="en-US"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Database:</a:t>
            </a:r>
            <a:r>
              <a:rPr lang="en-US"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a:t>
            </a:r>
            <a:r>
              <a:rPr lang="en-US"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HETEROGENOUS DATABASE</a:t>
            </a:r>
            <a:endParaRPr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914400" lvl="2" indent="457200" algn="l" rtl="0">
              <a:lnSpc>
                <a:spcPct val="150000"/>
              </a:lnSpc>
              <a:spcBef>
                <a:spcPts val="500"/>
              </a:spcBef>
              <a:spcAft>
                <a:spcPts val="0"/>
              </a:spcAft>
              <a:buSzPts val="912"/>
              <a:buNone/>
            </a:pPr>
            <a:r>
              <a:rPr lang="en-US"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Tools: </a:t>
            </a:r>
            <a:r>
              <a:rPr lang="en-US"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IBM COGNOS,VSCODE,</a:t>
            </a:r>
            <a:r>
              <a:rPr lang="en-US" sz="1600">
                <a:solidFill>
                  <a:schemeClr val="tx1"/>
                </a:solidFill>
                <a:latin typeface="Times New Roman" panose="02020603050405020304"/>
                <a:ea typeface="Times New Roman" panose="02020603050405020304"/>
                <a:cs typeface="Times New Roman" panose="02020603050405020304"/>
                <a:sym typeface="Times New Roman" panose="02020603050405020304"/>
              </a:rPr>
              <a:t>BLINKIT,NOTEBOOK LM</a:t>
            </a:r>
            <a:endParaRPr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914400" lvl="2" indent="457200" algn="l" rtl="0">
              <a:lnSpc>
                <a:spcPct val="150000"/>
              </a:lnSpc>
              <a:spcBef>
                <a:spcPts val="500"/>
              </a:spcBef>
              <a:spcAft>
                <a:spcPts val="0"/>
              </a:spcAft>
              <a:buSzPts val="912"/>
              <a:buNone/>
            </a:pPr>
            <a:r>
              <a:rPr lang="en-US"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Other:</a:t>
            </a:r>
            <a:r>
              <a:rPr lang="en-US" sz="16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IEEE PAPERS, GITHUB(RESEARCH)</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13</a:t>
            </a:fld>
            <a:endParaRPr lang="en-US"/>
          </a:p>
        </p:txBody>
      </p:sp>
      <p:pic>
        <p:nvPicPr>
          <p:cNvPr id="6" name="Picture 5">
            <a:extLst>
              <a:ext uri="{FF2B5EF4-FFF2-40B4-BE49-F238E27FC236}">
                <a16:creationId xmlns:a16="http://schemas.microsoft.com/office/drawing/2014/main" id="{E36E09BD-EE27-D4C6-AD5F-AF9AB78A8D4E}"/>
              </a:ext>
            </a:extLst>
          </p:cNvPr>
          <p:cNvPicPr>
            <a:picLocks noChangeAspect="1"/>
          </p:cNvPicPr>
          <p:nvPr/>
        </p:nvPicPr>
        <p:blipFill>
          <a:blip r:embed="rId3"/>
          <a:stretch>
            <a:fillRect/>
          </a:stretch>
        </p:blipFill>
        <p:spPr>
          <a:xfrm>
            <a:off x="838200" y="5029200"/>
            <a:ext cx="800100" cy="800100"/>
          </a:xfrm>
          <a:prstGeom prst="rect">
            <a:avLst/>
          </a:prstGeom>
        </p:spPr>
      </p:pic>
      <p:pic>
        <p:nvPicPr>
          <p:cNvPr id="9" name="Picture 8">
            <a:extLst>
              <a:ext uri="{FF2B5EF4-FFF2-40B4-BE49-F238E27FC236}">
                <a16:creationId xmlns:a16="http://schemas.microsoft.com/office/drawing/2014/main" id="{B1F322D6-2D06-F23C-81BF-EB4292011131}"/>
              </a:ext>
            </a:extLst>
          </p:cNvPr>
          <p:cNvPicPr>
            <a:picLocks noChangeAspect="1"/>
          </p:cNvPicPr>
          <p:nvPr/>
        </p:nvPicPr>
        <p:blipFill>
          <a:blip r:embed="rId4"/>
          <a:stretch>
            <a:fillRect/>
          </a:stretch>
        </p:blipFill>
        <p:spPr>
          <a:xfrm flipH="1">
            <a:off x="1698413" y="5133975"/>
            <a:ext cx="1441874" cy="990600"/>
          </a:xfrm>
          <a:prstGeom prst="rect">
            <a:avLst/>
          </a:prstGeom>
        </p:spPr>
      </p:pic>
      <p:pic>
        <p:nvPicPr>
          <p:cNvPr id="11" name="Picture 10">
            <a:extLst>
              <a:ext uri="{FF2B5EF4-FFF2-40B4-BE49-F238E27FC236}">
                <a16:creationId xmlns:a16="http://schemas.microsoft.com/office/drawing/2014/main" id="{86C83BF3-247D-35BD-388A-CD98C70FFEBF}"/>
              </a:ext>
            </a:extLst>
          </p:cNvPr>
          <p:cNvPicPr>
            <a:picLocks noChangeAspect="1"/>
          </p:cNvPicPr>
          <p:nvPr/>
        </p:nvPicPr>
        <p:blipFill>
          <a:blip r:embed="rId5"/>
          <a:stretch>
            <a:fillRect/>
          </a:stretch>
        </p:blipFill>
        <p:spPr>
          <a:xfrm>
            <a:off x="3200400" y="4948237"/>
            <a:ext cx="1371600" cy="881063"/>
          </a:xfrm>
          <a:prstGeom prst="rect">
            <a:avLst/>
          </a:prstGeom>
        </p:spPr>
      </p:pic>
      <p:pic>
        <p:nvPicPr>
          <p:cNvPr id="13" name="Picture 12">
            <a:extLst>
              <a:ext uri="{FF2B5EF4-FFF2-40B4-BE49-F238E27FC236}">
                <a16:creationId xmlns:a16="http://schemas.microsoft.com/office/drawing/2014/main" id="{27EC1F41-9D23-499D-981B-6484ADEAF60C}"/>
              </a:ext>
            </a:extLst>
          </p:cNvPr>
          <p:cNvPicPr>
            <a:picLocks noChangeAspect="1"/>
          </p:cNvPicPr>
          <p:nvPr/>
        </p:nvPicPr>
        <p:blipFill>
          <a:blip r:embed="rId6"/>
          <a:stretch>
            <a:fillRect/>
          </a:stretch>
        </p:blipFill>
        <p:spPr>
          <a:xfrm>
            <a:off x="4572000" y="5086350"/>
            <a:ext cx="1143000" cy="1085850"/>
          </a:xfrm>
          <a:prstGeom prst="rect">
            <a:avLst/>
          </a:prstGeom>
        </p:spPr>
      </p:pic>
      <p:pic>
        <p:nvPicPr>
          <p:cNvPr id="15" name="Picture 14">
            <a:extLst>
              <a:ext uri="{FF2B5EF4-FFF2-40B4-BE49-F238E27FC236}">
                <a16:creationId xmlns:a16="http://schemas.microsoft.com/office/drawing/2014/main" id="{CCFBD518-E3C6-C51F-FBF1-C879AEBF64D0}"/>
              </a:ext>
            </a:extLst>
          </p:cNvPr>
          <p:cNvPicPr>
            <a:picLocks noChangeAspect="1"/>
          </p:cNvPicPr>
          <p:nvPr/>
        </p:nvPicPr>
        <p:blipFill>
          <a:blip r:embed="rId7"/>
          <a:stretch>
            <a:fillRect/>
          </a:stretch>
        </p:blipFill>
        <p:spPr>
          <a:xfrm>
            <a:off x="7343775" y="5086350"/>
            <a:ext cx="962025" cy="962025"/>
          </a:xfrm>
          <a:prstGeom prst="rect">
            <a:avLst/>
          </a:prstGeom>
        </p:spPr>
      </p:pic>
      <p:pic>
        <p:nvPicPr>
          <p:cNvPr id="17" name="Picture 16">
            <a:extLst>
              <a:ext uri="{FF2B5EF4-FFF2-40B4-BE49-F238E27FC236}">
                <a16:creationId xmlns:a16="http://schemas.microsoft.com/office/drawing/2014/main" id="{C7E0CA8A-65FB-B5BF-4D22-C9CCEFB8F658}"/>
              </a:ext>
            </a:extLst>
          </p:cNvPr>
          <p:cNvPicPr>
            <a:picLocks noChangeAspect="1"/>
          </p:cNvPicPr>
          <p:nvPr/>
        </p:nvPicPr>
        <p:blipFill>
          <a:blip r:embed="rId8"/>
          <a:stretch>
            <a:fillRect/>
          </a:stretch>
        </p:blipFill>
        <p:spPr>
          <a:xfrm>
            <a:off x="5935649" y="4714875"/>
            <a:ext cx="1143000" cy="1143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Hardware Specification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ESP32 Microcontroller Central Processing Unit: </a:t>
            </a:r>
            <a:r>
              <a:rPr lang="en-US" sz="1400" dirty="0">
                <a:solidFill>
                  <a:schemeClr val="tx1"/>
                </a:solidFill>
                <a:latin typeface="Times New Roman" panose="02020603050405020304" pitchFamily="18" charset="0"/>
                <a:cs typeface="Times New Roman" panose="02020603050405020304" pitchFamily="18" charset="0"/>
              </a:rPr>
              <a:t>Acts as the primary controller that receives data from all sensors and executes the "Triple-Condition" irrigation logic</a:t>
            </a:r>
            <a:r>
              <a:rPr lang="en-US" sz="1400" dirty="0"/>
              <a:t>.</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Soil Moisture Sensor Hydration Monitoring</a:t>
            </a:r>
            <a:r>
              <a:rPr lang="en-US" sz="16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Measures the volumetric water content in the soil to determine if the field has reached a critical dryness level</a:t>
            </a:r>
            <a:r>
              <a:rPr lang="en-US" sz="1400" dirty="0"/>
              <a:t>.</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Rain Detection Sensor Precipitation Sensing: </a:t>
            </a:r>
            <a:r>
              <a:rPr lang="en-US" sz="1400" dirty="0">
                <a:solidFill>
                  <a:schemeClr val="tx1"/>
                </a:solidFill>
                <a:latin typeface="Times New Roman" panose="02020603050405020304" pitchFamily="18" charset="0"/>
                <a:cs typeface="Times New Roman" panose="02020603050405020304" pitchFamily="18" charset="0"/>
              </a:rPr>
              <a:t>Detects the presence of rainfall on its sensing surface to prevent the system from operating during natural weather events.</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Temperature Sensor (LM35/DHT11) Heat Monitoring: </a:t>
            </a:r>
            <a:r>
              <a:rPr lang="en-US" sz="1400" dirty="0">
                <a:solidFill>
                  <a:schemeClr val="tx1"/>
                </a:solidFill>
                <a:latin typeface="Times New Roman" panose="02020603050405020304" pitchFamily="18" charset="0"/>
                <a:cs typeface="Times New Roman" panose="02020603050405020304" pitchFamily="18" charset="0"/>
              </a:rPr>
              <a:t>Tracks ambient temperature levels to help the system calculate evaporation rates and adjust irrigation frequency during heatwaves</a:t>
            </a:r>
            <a:endParaRPr lang="en-US" altLang="en-US" sz="1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p:cNvSpPr>
            <a:spLocks noGrp="1"/>
          </p:cNvSpPr>
          <p:nvPr>
            <p:ph type="sldNum" sz="quarter" idx="12"/>
          </p:nvPr>
        </p:nvSpPr>
        <p:spPr/>
        <p:txBody>
          <a:bodyPr/>
          <a:lstStyle/>
          <a:p>
            <a:fld id="{66391149-F702-42CD-87F1-8E83746A2FC9}" type="slidenum">
              <a:rPr lang="en-US" smtClean="0"/>
              <a:t>14</a:t>
            </a:fld>
            <a:endParaRPr lang="en-US"/>
          </a:p>
        </p:txBody>
      </p:sp>
      <p:pic>
        <p:nvPicPr>
          <p:cNvPr id="6" name="Picture 5">
            <a:extLst>
              <a:ext uri="{FF2B5EF4-FFF2-40B4-BE49-F238E27FC236}">
                <a16:creationId xmlns:a16="http://schemas.microsoft.com/office/drawing/2014/main" id="{13F49F84-D063-ECA4-40A4-7DB202C82119}"/>
              </a:ext>
            </a:extLst>
          </p:cNvPr>
          <p:cNvPicPr>
            <a:picLocks noChangeAspect="1"/>
          </p:cNvPicPr>
          <p:nvPr/>
        </p:nvPicPr>
        <p:blipFill>
          <a:blip r:embed="rId3"/>
          <a:stretch>
            <a:fillRect/>
          </a:stretch>
        </p:blipFill>
        <p:spPr>
          <a:xfrm>
            <a:off x="619650" y="4799496"/>
            <a:ext cx="571500" cy="571500"/>
          </a:xfrm>
          <a:prstGeom prst="rect">
            <a:avLst/>
          </a:prstGeom>
        </p:spPr>
      </p:pic>
      <p:pic>
        <p:nvPicPr>
          <p:cNvPr id="9" name="Picture 8">
            <a:extLst>
              <a:ext uri="{FF2B5EF4-FFF2-40B4-BE49-F238E27FC236}">
                <a16:creationId xmlns:a16="http://schemas.microsoft.com/office/drawing/2014/main" id="{A8B8B0B1-02AA-290E-D00E-9F4C352850D7}"/>
              </a:ext>
            </a:extLst>
          </p:cNvPr>
          <p:cNvPicPr>
            <a:picLocks noChangeAspect="1"/>
          </p:cNvPicPr>
          <p:nvPr/>
        </p:nvPicPr>
        <p:blipFill>
          <a:blip r:embed="rId4"/>
          <a:stretch>
            <a:fillRect/>
          </a:stretch>
        </p:blipFill>
        <p:spPr>
          <a:xfrm>
            <a:off x="1447800" y="5387671"/>
            <a:ext cx="762000" cy="762000"/>
          </a:xfrm>
          <a:prstGeom prst="rect">
            <a:avLst/>
          </a:prstGeom>
        </p:spPr>
      </p:pic>
      <p:pic>
        <p:nvPicPr>
          <p:cNvPr id="11" name="Picture 10">
            <a:extLst>
              <a:ext uri="{FF2B5EF4-FFF2-40B4-BE49-F238E27FC236}">
                <a16:creationId xmlns:a16="http://schemas.microsoft.com/office/drawing/2014/main" id="{26DEAC08-24C8-C7B7-1DCD-CCFE95773411}"/>
              </a:ext>
            </a:extLst>
          </p:cNvPr>
          <p:cNvPicPr>
            <a:picLocks noChangeAspect="1"/>
          </p:cNvPicPr>
          <p:nvPr/>
        </p:nvPicPr>
        <p:blipFill>
          <a:blip r:embed="rId5"/>
          <a:stretch>
            <a:fillRect/>
          </a:stretch>
        </p:blipFill>
        <p:spPr>
          <a:xfrm>
            <a:off x="2516919" y="4735057"/>
            <a:ext cx="781050" cy="781050"/>
          </a:xfrm>
          <a:prstGeom prst="rect">
            <a:avLst/>
          </a:prstGeom>
        </p:spPr>
      </p:pic>
      <p:pic>
        <p:nvPicPr>
          <p:cNvPr id="13" name="Picture 12">
            <a:extLst>
              <a:ext uri="{FF2B5EF4-FFF2-40B4-BE49-F238E27FC236}">
                <a16:creationId xmlns:a16="http://schemas.microsoft.com/office/drawing/2014/main" id="{10949C1F-F31C-EA3A-F780-53067305A354}"/>
              </a:ext>
            </a:extLst>
          </p:cNvPr>
          <p:cNvPicPr>
            <a:picLocks noChangeAspect="1"/>
          </p:cNvPicPr>
          <p:nvPr/>
        </p:nvPicPr>
        <p:blipFill>
          <a:blip r:embed="rId6"/>
          <a:stretch>
            <a:fillRect/>
          </a:stretch>
        </p:blipFill>
        <p:spPr>
          <a:xfrm>
            <a:off x="3581400" y="5230357"/>
            <a:ext cx="919314" cy="919314"/>
          </a:xfrm>
          <a:prstGeom prst="rect">
            <a:avLst/>
          </a:prstGeom>
        </p:spPr>
      </p:pic>
      <p:pic>
        <p:nvPicPr>
          <p:cNvPr id="15" name="Picture 14">
            <a:extLst>
              <a:ext uri="{FF2B5EF4-FFF2-40B4-BE49-F238E27FC236}">
                <a16:creationId xmlns:a16="http://schemas.microsoft.com/office/drawing/2014/main" id="{A6C8CE4D-D84F-9CF0-F22D-C24794E68B9C}"/>
              </a:ext>
            </a:extLst>
          </p:cNvPr>
          <p:cNvPicPr>
            <a:picLocks noChangeAspect="1"/>
          </p:cNvPicPr>
          <p:nvPr/>
        </p:nvPicPr>
        <p:blipFill>
          <a:blip r:embed="rId7"/>
          <a:stretch>
            <a:fillRect/>
          </a:stretch>
        </p:blipFill>
        <p:spPr>
          <a:xfrm>
            <a:off x="6077237" y="5271825"/>
            <a:ext cx="951925" cy="848250"/>
          </a:xfrm>
          <a:prstGeom prst="rect">
            <a:avLst/>
          </a:prstGeom>
        </p:spPr>
      </p:pic>
      <p:pic>
        <p:nvPicPr>
          <p:cNvPr id="17" name="Picture 16">
            <a:extLst>
              <a:ext uri="{FF2B5EF4-FFF2-40B4-BE49-F238E27FC236}">
                <a16:creationId xmlns:a16="http://schemas.microsoft.com/office/drawing/2014/main" id="{672CDBB0-5297-7C82-A212-928A10DF7271}"/>
              </a:ext>
            </a:extLst>
          </p:cNvPr>
          <p:cNvPicPr>
            <a:picLocks noChangeAspect="1"/>
          </p:cNvPicPr>
          <p:nvPr/>
        </p:nvPicPr>
        <p:blipFill>
          <a:blip r:embed="rId8"/>
          <a:stretch>
            <a:fillRect/>
          </a:stretch>
        </p:blipFill>
        <p:spPr>
          <a:xfrm>
            <a:off x="7321042" y="4810277"/>
            <a:ext cx="831593" cy="577394"/>
          </a:xfrm>
          <a:prstGeom prst="rect">
            <a:avLst/>
          </a:prstGeom>
        </p:spPr>
      </p:pic>
      <p:pic>
        <p:nvPicPr>
          <p:cNvPr id="19" name="Picture 18">
            <a:extLst>
              <a:ext uri="{FF2B5EF4-FFF2-40B4-BE49-F238E27FC236}">
                <a16:creationId xmlns:a16="http://schemas.microsoft.com/office/drawing/2014/main" id="{D9A9B097-1BC6-830A-C611-B5954F935B98}"/>
              </a:ext>
            </a:extLst>
          </p:cNvPr>
          <p:cNvPicPr>
            <a:picLocks noChangeAspect="1"/>
          </p:cNvPicPr>
          <p:nvPr/>
        </p:nvPicPr>
        <p:blipFill>
          <a:blip r:embed="rId9"/>
          <a:stretch>
            <a:fillRect/>
          </a:stretch>
        </p:blipFill>
        <p:spPr>
          <a:xfrm>
            <a:off x="4733787" y="4580421"/>
            <a:ext cx="1009650" cy="10096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3CBB3-B815-6D3C-D699-B76BE3936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8C0F6-8B03-61BC-105C-36515A990479}"/>
              </a:ext>
            </a:extLst>
          </p:cNvPr>
          <p:cNvSpPr>
            <a:spLocks noGrp="1"/>
          </p:cNvSpPr>
          <p:nvPr>
            <p:ph type="ctrTitle"/>
          </p:nvPr>
        </p:nvSpPr>
        <p:spPr>
          <a:xfrm>
            <a:off x="394970" y="381000"/>
            <a:ext cx="800608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Hardware Specification</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426CE2C-184B-6A16-941F-FA8F269CA190}"/>
              </a:ext>
            </a:extLst>
          </p:cNvPr>
          <p:cNvSpPr>
            <a:spLocks noGrp="1"/>
          </p:cNvSpPr>
          <p:nvPr>
            <p:ph type="subTitle" idx="1"/>
          </p:nvPr>
        </p:nvSpPr>
        <p:spPr>
          <a:xfrm>
            <a:off x="436880" y="1524000"/>
            <a:ext cx="7945120" cy="4648200"/>
          </a:xfrm>
        </p:spPr>
        <p:style>
          <a:lnRef idx="2">
            <a:schemeClr val="accent2"/>
          </a:lnRef>
          <a:fillRef idx="1">
            <a:schemeClr val="lt1"/>
          </a:fillRef>
          <a:effectRef idx="0">
            <a:schemeClr val="accent2"/>
          </a:effectRef>
          <a:fontRef idx="minor">
            <a:schemeClr val="dk1"/>
          </a:fontRef>
        </p:style>
        <p:txBody>
          <a:bodyPr>
            <a:normAutofit/>
          </a:bodyPr>
          <a:lstStyle/>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Solenoid Valve Flow Control: </a:t>
            </a:r>
            <a:r>
              <a:rPr lang="en-US" sz="1400" dirty="0">
                <a:solidFill>
                  <a:schemeClr val="tx1"/>
                </a:solidFill>
                <a:latin typeface="Times New Roman" panose="02020603050405020304" pitchFamily="18" charset="0"/>
                <a:cs typeface="Times New Roman" panose="02020603050405020304" pitchFamily="18" charset="0"/>
              </a:rPr>
              <a:t>An electronically controlled valve that acts as a gatekeeper for the water supply, opening only when signaled by the ESP32.</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Water Motor Pump Mechanism: </a:t>
            </a:r>
            <a:r>
              <a:rPr lang="en-US" sz="1400" dirty="0">
                <a:solidFill>
                  <a:schemeClr val="tx1"/>
                </a:solidFill>
                <a:latin typeface="Times New Roman" panose="02020603050405020304" pitchFamily="18" charset="0"/>
                <a:cs typeface="Times New Roman" panose="02020603050405020304" pitchFamily="18" charset="0"/>
              </a:rPr>
              <a:t>A high-torque AC motor that provides the mechanical force necessary to pump water from the source to sloped hilly terrains</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Step-Down Transformer Voltage Regulation: </a:t>
            </a:r>
            <a:r>
              <a:rPr lang="en-US" sz="1400" dirty="0">
                <a:solidFill>
                  <a:schemeClr val="tx1"/>
                </a:solidFill>
                <a:latin typeface="Times New Roman" panose="02020603050405020304" pitchFamily="18" charset="0"/>
                <a:cs typeface="Times New Roman" panose="02020603050405020304" pitchFamily="18" charset="0"/>
              </a:rPr>
              <a:t>Converts high-voltage AC mains power into a safe, low-voltage DC supply required to power the ESP32 and sensors</a:t>
            </a:r>
          </a:p>
          <a:p>
            <a:pPr algn="just">
              <a:lnSpc>
                <a:spcPct val="150000"/>
              </a:lnSpc>
              <a:buFont typeface="Wingdings" panose="05000000000000000000" charset="0"/>
            </a:pPr>
            <a:r>
              <a:rPr lang="en-US" sz="1600" b="1" dirty="0">
                <a:solidFill>
                  <a:schemeClr val="tx1"/>
                </a:solidFill>
                <a:latin typeface="Times New Roman" panose="02020603050405020304" pitchFamily="18" charset="0"/>
                <a:cs typeface="Times New Roman" panose="02020603050405020304" pitchFamily="18" charset="0"/>
              </a:rPr>
              <a:t>Relay Module Power Switching</a:t>
            </a:r>
            <a:r>
              <a:rPr lang="en-US" sz="1400" dirty="0">
                <a:solidFill>
                  <a:schemeClr val="tx1"/>
                </a:solidFill>
                <a:latin typeface="Times New Roman" panose="02020603050405020304" pitchFamily="18" charset="0"/>
                <a:cs typeface="Times New Roman" panose="02020603050405020304" pitchFamily="18" charset="0"/>
              </a:rPr>
              <a:t>: Acts as an electromagnetic switch that allows the low-power ESP32 to safely control the high-power water motor</a:t>
            </a:r>
            <a:endParaRPr lang="en-US" altLang="en-US" sz="1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5117B96-ADB1-ADC2-4579-1A1CF41C5BF6}"/>
              </a:ext>
            </a:extLst>
          </p:cNvPr>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7" name="Slide Number Placeholder 6">
            <a:extLst>
              <a:ext uri="{FF2B5EF4-FFF2-40B4-BE49-F238E27FC236}">
                <a16:creationId xmlns:a16="http://schemas.microsoft.com/office/drawing/2014/main" id="{C28D7908-DF64-EC18-C9CE-AF13D5B48532}"/>
              </a:ext>
            </a:extLst>
          </p:cNvPr>
          <p:cNvSpPr>
            <a:spLocks noGrp="1"/>
          </p:cNvSpPr>
          <p:nvPr>
            <p:ph type="sldNum" sz="quarter" idx="12"/>
          </p:nvPr>
        </p:nvSpPr>
        <p:spPr/>
        <p:txBody>
          <a:bodyPr/>
          <a:lstStyle/>
          <a:p>
            <a:fld id="{66391149-F702-42CD-87F1-8E83746A2FC9}" type="slidenum">
              <a:rPr lang="en-US" smtClean="0"/>
              <a:t>15</a:t>
            </a:fld>
            <a:endParaRPr lang="en-US"/>
          </a:p>
        </p:txBody>
      </p:sp>
      <p:pic>
        <p:nvPicPr>
          <p:cNvPr id="6" name="Picture 5">
            <a:extLst>
              <a:ext uri="{FF2B5EF4-FFF2-40B4-BE49-F238E27FC236}">
                <a16:creationId xmlns:a16="http://schemas.microsoft.com/office/drawing/2014/main" id="{ADDA4D54-5F55-3B40-265F-F6A58DC2001C}"/>
              </a:ext>
            </a:extLst>
          </p:cNvPr>
          <p:cNvPicPr>
            <a:picLocks noChangeAspect="1"/>
          </p:cNvPicPr>
          <p:nvPr/>
        </p:nvPicPr>
        <p:blipFill>
          <a:blip r:embed="rId3"/>
          <a:stretch>
            <a:fillRect/>
          </a:stretch>
        </p:blipFill>
        <p:spPr>
          <a:xfrm>
            <a:off x="565702" y="4838700"/>
            <a:ext cx="571500" cy="571500"/>
          </a:xfrm>
          <a:prstGeom prst="rect">
            <a:avLst/>
          </a:prstGeom>
        </p:spPr>
      </p:pic>
      <p:pic>
        <p:nvPicPr>
          <p:cNvPr id="9" name="Picture 8">
            <a:extLst>
              <a:ext uri="{FF2B5EF4-FFF2-40B4-BE49-F238E27FC236}">
                <a16:creationId xmlns:a16="http://schemas.microsoft.com/office/drawing/2014/main" id="{6711A8B4-B68E-AB96-C661-F9665260E370}"/>
              </a:ext>
            </a:extLst>
          </p:cNvPr>
          <p:cNvPicPr>
            <a:picLocks noChangeAspect="1"/>
          </p:cNvPicPr>
          <p:nvPr/>
        </p:nvPicPr>
        <p:blipFill>
          <a:blip r:embed="rId4"/>
          <a:stretch>
            <a:fillRect/>
          </a:stretch>
        </p:blipFill>
        <p:spPr>
          <a:xfrm>
            <a:off x="1447800" y="5387671"/>
            <a:ext cx="762000" cy="762000"/>
          </a:xfrm>
          <a:prstGeom prst="rect">
            <a:avLst/>
          </a:prstGeom>
        </p:spPr>
      </p:pic>
      <p:pic>
        <p:nvPicPr>
          <p:cNvPr id="11" name="Picture 10">
            <a:extLst>
              <a:ext uri="{FF2B5EF4-FFF2-40B4-BE49-F238E27FC236}">
                <a16:creationId xmlns:a16="http://schemas.microsoft.com/office/drawing/2014/main" id="{C2B70042-8166-2010-9F92-22460461454D}"/>
              </a:ext>
            </a:extLst>
          </p:cNvPr>
          <p:cNvPicPr>
            <a:picLocks noChangeAspect="1"/>
          </p:cNvPicPr>
          <p:nvPr/>
        </p:nvPicPr>
        <p:blipFill>
          <a:blip r:embed="rId5"/>
          <a:stretch>
            <a:fillRect/>
          </a:stretch>
        </p:blipFill>
        <p:spPr>
          <a:xfrm>
            <a:off x="2602030" y="4733925"/>
            <a:ext cx="781050" cy="781050"/>
          </a:xfrm>
          <a:prstGeom prst="rect">
            <a:avLst/>
          </a:prstGeom>
        </p:spPr>
      </p:pic>
      <p:pic>
        <p:nvPicPr>
          <p:cNvPr id="13" name="Picture 12">
            <a:extLst>
              <a:ext uri="{FF2B5EF4-FFF2-40B4-BE49-F238E27FC236}">
                <a16:creationId xmlns:a16="http://schemas.microsoft.com/office/drawing/2014/main" id="{51E9E912-5D53-96D0-80C9-0AE0BAD088A7}"/>
              </a:ext>
            </a:extLst>
          </p:cNvPr>
          <p:cNvPicPr>
            <a:picLocks noChangeAspect="1"/>
          </p:cNvPicPr>
          <p:nvPr/>
        </p:nvPicPr>
        <p:blipFill>
          <a:blip r:embed="rId6"/>
          <a:stretch>
            <a:fillRect/>
          </a:stretch>
        </p:blipFill>
        <p:spPr>
          <a:xfrm>
            <a:off x="3581400" y="5230357"/>
            <a:ext cx="919314" cy="919314"/>
          </a:xfrm>
          <a:prstGeom prst="rect">
            <a:avLst/>
          </a:prstGeom>
        </p:spPr>
      </p:pic>
      <p:pic>
        <p:nvPicPr>
          <p:cNvPr id="15" name="Picture 14">
            <a:extLst>
              <a:ext uri="{FF2B5EF4-FFF2-40B4-BE49-F238E27FC236}">
                <a16:creationId xmlns:a16="http://schemas.microsoft.com/office/drawing/2014/main" id="{18F616A3-0019-9CE7-108C-A64588BDA220}"/>
              </a:ext>
            </a:extLst>
          </p:cNvPr>
          <p:cNvPicPr>
            <a:picLocks noChangeAspect="1"/>
          </p:cNvPicPr>
          <p:nvPr/>
        </p:nvPicPr>
        <p:blipFill>
          <a:blip r:embed="rId7"/>
          <a:stretch>
            <a:fillRect/>
          </a:stretch>
        </p:blipFill>
        <p:spPr>
          <a:xfrm>
            <a:off x="6077237" y="5271825"/>
            <a:ext cx="951925" cy="848250"/>
          </a:xfrm>
          <a:prstGeom prst="rect">
            <a:avLst/>
          </a:prstGeom>
        </p:spPr>
      </p:pic>
      <p:pic>
        <p:nvPicPr>
          <p:cNvPr id="17" name="Picture 16">
            <a:extLst>
              <a:ext uri="{FF2B5EF4-FFF2-40B4-BE49-F238E27FC236}">
                <a16:creationId xmlns:a16="http://schemas.microsoft.com/office/drawing/2014/main" id="{05FFA390-B686-E5A9-E02D-2D4967B5D55A}"/>
              </a:ext>
            </a:extLst>
          </p:cNvPr>
          <p:cNvPicPr>
            <a:picLocks noChangeAspect="1"/>
          </p:cNvPicPr>
          <p:nvPr/>
        </p:nvPicPr>
        <p:blipFill>
          <a:blip r:embed="rId8"/>
          <a:stretch>
            <a:fillRect/>
          </a:stretch>
        </p:blipFill>
        <p:spPr>
          <a:xfrm>
            <a:off x="7474207" y="4619625"/>
            <a:ext cx="831593" cy="577394"/>
          </a:xfrm>
          <a:prstGeom prst="rect">
            <a:avLst/>
          </a:prstGeom>
        </p:spPr>
      </p:pic>
      <p:pic>
        <p:nvPicPr>
          <p:cNvPr id="19" name="Picture 18">
            <a:extLst>
              <a:ext uri="{FF2B5EF4-FFF2-40B4-BE49-F238E27FC236}">
                <a16:creationId xmlns:a16="http://schemas.microsoft.com/office/drawing/2014/main" id="{00F66AA2-D899-8785-0AFD-788D75BD62A5}"/>
              </a:ext>
            </a:extLst>
          </p:cNvPr>
          <p:cNvPicPr>
            <a:picLocks noChangeAspect="1"/>
          </p:cNvPicPr>
          <p:nvPr/>
        </p:nvPicPr>
        <p:blipFill>
          <a:blip r:embed="rId9"/>
          <a:stretch>
            <a:fillRect/>
          </a:stretch>
        </p:blipFill>
        <p:spPr>
          <a:xfrm>
            <a:off x="4687937" y="4619625"/>
            <a:ext cx="1009650" cy="1009650"/>
          </a:xfrm>
          <a:prstGeom prst="rect">
            <a:avLst/>
          </a:prstGeom>
        </p:spPr>
      </p:pic>
    </p:spTree>
    <p:extLst>
      <p:ext uri="{BB962C8B-B14F-4D97-AF65-F5344CB8AC3E}">
        <p14:creationId xmlns:p14="http://schemas.microsoft.com/office/powerpoint/2010/main" val="1735160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Sample Screen shot</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924800" cy="4841875"/>
          </a:xfrm>
        </p:spPr>
        <p:style>
          <a:lnRef idx="2">
            <a:schemeClr val="accent2"/>
          </a:lnRef>
          <a:fillRef idx="1">
            <a:schemeClr val="lt1"/>
          </a:fillRef>
          <a:effectRef idx="0">
            <a:schemeClr val="accent2"/>
          </a:effectRef>
          <a:fontRef idx="minor">
            <a:schemeClr val="dk1"/>
          </a:fontRef>
        </p:style>
        <p:txBody>
          <a:bodyPr>
            <a:normAutofit/>
          </a:bodyPr>
          <a:lstStyle/>
          <a:p>
            <a:pPr marL="914400" lvl="2" indent="457200" algn="l" rtl="0">
              <a:lnSpc>
                <a:spcPct val="150000"/>
              </a:lnSpc>
              <a:spcBef>
                <a:spcPts val="0"/>
              </a:spcBef>
              <a:spcAft>
                <a:spcPts val="0"/>
              </a:spcAft>
              <a:buSzPts val="912"/>
              <a:buNone/>
            </a:pPr>
            <a:endParaRPr lang="en-US" sz="1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16</a:t>
            </a:fld>
            <a:endParaRPr lang="en-US"/>
          </a:p>
        </p:txBody>
      </p:sp>
      <p:pic>
        <p:nvPicPr>
          <p:cNvPr id="6" name="Picture 5">
            <a:extLst>
              <a:ext uri="{FF2B5EF4-FFF2-40B4-BE49-F238E27FC236}">
                <a16:creationId xmlns:a16="http://schemas.microsoft.com/office/drawing/2014/main" id="{EC5C9BB3-0877-F7E7-87D5-B8195308FF7F}"/>
              </a:ext>
            </a:extLst>
          </p:cNvPr>
          <p:cNvPicPr>
            <a:picLocks noChangeAspect="1"/>
          </p:cNvPicPr>
          <p:nvPr/>
        </p:nvPicPr>
        <p:blipFill>
          <a:blip r:embed="rId2"/>
          <a:stretch>
            <a:fillRect/>
          </a:stretch>
        </p:blipFill>
        <p:spPr>
          <a:xfrm>
            <a:off x="609600" y="1515013"/>
            <a:ext cx="7315200" cy="49881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Sample Screen shot</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924800" cy="4841875"/>
          </a:xfrm>
        </p:spPr>
        <p:style>
          <a:lnRef idx="2">
            <a:schemeClr val="accent2"/>
          </a:lnRef>
          <a:fillRef idx="1">
            <a:schemeClr val="lt1"/>
          </a:fillRef>
          <a:effectRef idx="0">
            <a:schemeClr val="accent2"/>
          </a:effectRef>
          <a:fontRef idx="minor">
            <a:schemeClr val="dk1"/>
          </a:fontRef>
        </p:style>
        <p:txBody>
          <a:bodyPr>
            <a:normAutofit/>
          </a:bodyPr>
          <a:lstStyle/>
          <a:p>
            <a:pPr algn="l">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17</a:t>
            </a:fld>
            <a:endParaRPr lang="en-US"/>
          </a:p>
        </p:txBody>
      </p:sp>
      <p:pic>
        <p:nvPicPr>
          <p:cNvPr id="6" name="Picture 5">
            <a:extLst>
              <a:ext uri="{FF2B5EF4-FFF2-40B4-BE49-F238E27FC236}">
                <a16:creationId xmlns:a16="http://schemas.microsoft.com/office/drawing/2014/main" id="{7842E780-9F27-C56A-9973-188390C5B820}"/>
              </a:ext>
            </a:extLst>
          </p:cNvPr>
          <p:cNvPicPr>
            <a:picLocks noChangeAspect="1"/>
          </p:cNvPicPr>
          <p:nvPr/>
        </p:nvPicPr>
        <p:blipFill>
          <a:blip r:embed="rId2"/>
          <a:stretch>
            <a:fillRect/>
          </a:stretch>
        </p:blipFill>
        <p:spPr>
          <a:xfrm>
            <a:off x="666584" y="1529693"/>
            <a:ext cx="7162799" cy="47504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Snapshot</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924800" cy="4841875"/>
          </a:xfrm>
        </p:spPr>
        <p:style>
          <a:lnRef idx="2">
            <a:schemeClr val="accent2"/>
          </a:lnRef>
          <a:fillRef idx="1">
            <a:schemeClr val="lt1"/>
          </a:fillRef>
          <a:effectRef idx="0">
            <a:schemeClr val="accent2"/>
          </a:effectRef>
          <a:fontRef idx="minor">
            <a:schemeClr val="dk1"/>
          </a:fontRef>
        </p:style>
        <p:txBody>
          <a:bodyPr>
            <a:normAutofit/>
          </a:bodyPr>
          <a:lstStyle/>
          <a:p>
            <a:pPr algn="l">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18</a:t>
            </a:fld>
            <a:endParaRPr lang="en-US"/>
          </a:p>
        </p:txBody>
      </p:sp>
      <p:pic>
        <p:nvPicPr>
          <p:cNvPr id="6" name="Picture 5">
            <a:extLst>
              <a:ext uri="{FF2B5EF4-FFF2-40B4-BE49-F238E27FC236}">
                <a16:creationId xmlns:a16="http://schemas.microsoft.com/office/drawing/2014/main" id="{54986739-7D4B-900C-A8FB-A3D7906896C8}"/>
              </a:ext>
            </a:extLst>
          </p:cNvPr>
          <p:cNvPicPr>
            <a:picLocks noChangeAspect="1"/>
          </p:cNvPicPr>
          <p:nvPr/>
        </p:nvPicPr>
        <p:blipFill>
          <a:blip r:embed="rId2"/>
          <a:stretch>
            <a:fillRect/>
          </a:stretch>
        </p:blipFill>
        <p:spPr>
          <a:xfrm>
            <a:off x="609600" y="1524000"/>
            <a:ext cx="7634444" cy="507192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ED19-DAA3-6E6C-3347-2891C9517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85A3A-D827-80B5-31A1-8A6A8E46EB72}"/>
              </a:ext>
            </a:extLst>
          </p:cNvPr>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Snapshot</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774FEA5-D05B-851B-AEEA-E6F40D54ABA1}"/>
              </a:ext>
            </a:extLst>
          </p:cNvPr>
          <p:cNvSpPr>
            <a:spLocks noGrp="1"/>
          </p:cNvSpPr>
          <p:nvPr>
            <p:ph type="subTitle" idx="1"/>
          </p:nvPr>
        </p:nvSpPr>
        <p:spPr>
          <a:xfrm>
            <a:off x="457200" y="1524000"/>
            <a:ext cx="7924800" cy="4841875"/>
          </a:xfrm>
        </p:spPr>
        <p:style>
          <a:lnRef idx="2">
            <a:schemeClr val="accent2"/>
          </a:lnRef>
          <a:fillRef idx="1">
            <a:schemeClr val="lt1"/>
          </a:fillRef>
          <a:effectRef idx="0">
            <a:schemeClr val="accent2"/>
          </a:effectRef>
          <a:fontRef idx="minor">
            <a:schemeClr val="dk1"/>
          </a:fontRef>
        </p:style>
        <p:txBody>
          <a:bodyPr>
            <a:normAutofit/>
          </a:bodyPr>
          <a:lstStyle/>
          <a:p>
            <a:pPr algn="l">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AC3250F-896C-AD0F-CC94-EE084479D023}"/>
              </a:ext>
            </a:extLst>
          </p:cNvPr>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a:extLst>
              <a:ext uri="{FF2B5EF4-FFF2-40B4-BE49-F238E27FC236}">
                <a16:creationId xmlns:a16="http://schemas.microsoft.com/office/drawing/2014/main" id="{75071F25-7A67-6D1F-E994-D5FEA5450036}"/>
              </a:ext>
            </a:extLst>
          </p:cNvPr>
          <p:cNvSpPr>
            <a:spLocks noGrp="1"/>
          </p:cNvSpPr>
          <p:nvPr>
            <p:ph type="sldNum" sz="quarter" idx="12"/>
          </p:nvPr>
        </p:nvSpPr>
        <p:spPr/>
        <p:txBody>
          <a:bodyPr/>
          <a:lstStyle/>
          <a:p>
            <a:fld id="{66391149-F702-42CD-87F1-8E83746A2FC9}" type="slidenum">
              <a:rPr lang="en-US" smtClean="0"/>
              <a:t>19</a:t>
            </a:fld>
            <a:endParaRPr lang="en-US"/>
          </a:p>
        </p:txBody>
      </p:sp>
      <p:pic>
        <p:nvPicPr>
          <p:cNvPr id="7" name="Picture 6">
            <a:extLst>
              <a:ext uri="{FF2B5EF4-FFF2-40B4-BE49-F238E27FC236}">
                <a16:creationId xmlns:a16="http://schemas.microsoft.com/office/drawing/2014/main" id="{3AA613DC-D51F-60D7-615A-E55950C771BD}"/>
              </a:ext>
            </a:extLst>
          </p:cNvPr>
          <p:cNvPicPr>
            <a:picLocks noChangeAspect="1"/>
          </p:cNvPicPr>
          <p:nvPr/>
        </p:nvPicPr>
        <p:blipFill>
          <a:blip r:embed="rId2"/>
          <a:stretch>
            <a:fillRect/>
          </a:stretch>
        </p:blipFill>
        <p:spPr>
          <a:xfrm>
            <a:off x="560233" y="1637878"/>
            <a:ext cx="7718733" cy="4562760"/>
          </a:xfrm>
          <a:prstGeom prst="rect">
            <a:avLst/>
          </a:prstGeom>
        </p:spPr>
      </p:pic>
    </p:spTree>
    <p:extLst>
      <p:ext uri="{BB962C8B-B14F-4D97-AF65-F5344CB8AC3E}">
        <p14:creationId xmlns:p14="http://schemas.microsoft.com/office/powerpoint/2010/main" val="2766784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600" b="1" dirty="0">
                <a:latin typeface="Times New Roman" panose="02020603050405020304" pitchFamily="18" charset="0"/>
                <a:cs typeface="Times New Roman" panose="02020603050405020304" pitchFamily="18" charset="0"/>
                <a:sym typeface="+mn-ea"/>
              </a:rPr>
              <a:t>References</a:t>
            </a:r>
          </a:p>
        </p:txBody>
      </p:sp>
      <p:sp>
        <p:nvSpPr>
          <p:cNvPr id="3" name="Subtitle 2"/>
          <p:cNvSpPr>
            <a:spLocks noGrp="1"/>
          </p:cNvSpPr>
          <p:nvPr>
            <p:ph type="subTitle" idx="1"/>
          </p:nvPr>
        </p:nvSpPr>
        <p:spPr>
          <a:xfrm>
            <a:off x="457200" y="1524000"/>
            <a:ext cx="7924800" cy="4841875"/>
          </a:xfrm>
        </p:spPr>
        <p:style>
          <a:lnRef idx="2">
            <a:schemeClr val="accent2"/>
          </a:lnRef>
          <a:fillRef idx="1">
            <a:schemeClr val="lt1"/>
          </a:fillRef>
          <a:effectRef idx="0">
            <a:schemeClr val="accent2"/>
          </a:effectRef>
          <a:fontRef idx="minor">
            <a:schemeClr val="dk1"/>
          </a:fontRef>
        </p:style>
        <p:txBody>
          <a:bodyPr>
            <a:normAutofit lnSpcReduction="10000"/>
          </a:bodyPr>
          <a:lstStyle/>
          <a:p>
            <a:pPr lvl="1" algn="just">
              <a:lnSpc>
                <a:spcPct val="150000"/>
              </a:lnSpc>
            </a:pPr>
            <a:r>
              <a:rPr lang="en-US" sz="1600" b="1" dirty="0">
                <a:solidFill>
                  <a:schemeClr val="tx1"/>
                </a:solidFill>
                <a:latin typeface="Times New Roman" panose="02020603050405020304" pitchFamily="18" charset="0"/>
                <a:cs typeface="Times New Roman" panose="02020603050405020304" pitchFamily="18" charset="0"/>
              </a:rPr>
              <a:t>Reference:</a:t>
            </a:r>
            <a:r>
              <a:rPr lang="en-US" sz="1600" dirty="0">
                <a:solidFill>
                  <a:schemeClr val="tx1"/>
                </a:solidFill>
                <a:latin typeface="Times New Roman" panose="02020603050405020304" pitchFamily="18" charset="0"/>
                <a:cs typeface="Times New Roman" panose="02020603050405020304" pitchFamily="18" charset="0"/>
              </a:rPr>
              <a:t> Maier, A., Sharp, A., &amp; Vagapov, Y. (2017). "Comparative Analysis and Practical Implementation of the ESP32 Microcontroller Module for the Internet of Things." IEEE Conference on Internet of Technologies and Applications.</a:t>
            </a:r>
            <a:endParaRPr lang="en-I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600" b="1" dirty="0">
                <a:solidFill>
                  <a:schemeClr val="tx1"/>
                </a:solidFill>
                <a:latin typeface="Times New Roman" panose="02020603050405020304" pitchFamily="18" charset="0"/>
                <a:cs typeface="Times New Roman" panose="02020603050405020304" pitchFamily="18" charset="0"/>
              </a:rPr>
              <a:t>           Link:</a:t>
            </a:r>
            <a:r>
              <a:rPr lang="en-US" sz="1600" dirty="0">
                <a:solidFill>
                  <a:schemeClr val="tx1"/>
                </a:solidFill>
                <a:latin typeface="Times New Roman" panose="02020603050405020304" pitchFamily="18" charset="0"/>
                <a:cs typeface="Times New Roman" panose="02020603050405020304" pitchFamily="18" charset="0"/>
              </a:rPr>
              <a:t> </a:t>
            </a:r>
            <a:r>
              <a:rPr lang="en-US" sz="1600"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https://www.researchgate.net/publication/320273388</a:t>
            </a:r>
            <a:r>
              <a:rPr lang="en-US" sz="1600" dirty="0">
                <a:solidFill>
                  <a:schemeClr val="tx1"/>
                </a:solidFill>
                <a:latin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a:p>
            <a:pPr lvl="1" algn="just">
              <a:lnSpc>
                <a:spcPct val="150000"/>
              </a:lnSpc>
            </a:pPr>
            <a:r>
              <a:rPr lang="en-US" sz="1600" b="1" dirty="0">
                <a:solidFill>
                  <a:schemeClr val="tx1"/>
                </a:solidFill>
                <a:latin typeface="Times New Roman" panose="02020603050405020304" pitchFamily="18" charset="0"/>
                <a:cs typeface="Times New Roman" panose="02020603050405020304" pitchFamily="18" charset="0"/>
              </a:rPr>
              <a:t>Reference:</a:t>
            </a:r>
            <a:r>
              <a:rPr lang="en-US" sz="1600" dirty="0">
                <a:solidFill>
                  <a:schemeClr val="tx1"/>
                </a:solidFill>
                <a:latin typeface="Times New Roman" panose="02020603050405020304" pitchFamily="18" charset="0"/>
                <a:cs typeface="Times New Roman" panose="02020603050405020304" pitchFamily="18" charset="0"/>
              </a:rPr>
              <a:t> Nayyar, A., &amp; Puri, V. (2017). "Smart Farming: IoT Based Smart Sensors Agriculture Stick for Live Monitoring of Temperature and Humidness of Soil." International Journal of Applied Agricultural Sciences</a:t>
            </a:r>
            <a:r>
              <a:rPr lang="en-US" sz="1600" b="1" dirty="0">
                <a:solidFill>
                  <a:schemeClr val="tx1"/>
                </a:solidFill>
                <a:latin typeface="Times New Roman" panose="02020603050405020304" pitchFamily="18" charset="0"/>
                <a:cs typeface="Times New Roman" panose="02020603050405020304" pitchFamily="18" charset="0"/>
              </a:rPr>
              <a:t>  </a:t>
            </a:r>
            <a:r>
              <a:rPr lang="en-US" sz="1600" b="1" dirty="0" err="1">
                <a:solidFill>
                  <a:schemeClr val="tx1"/>
                </a:solidFill>
                <a:latin typeface="Times New Roman" panose="02020603050405020304" pitchFamily="18" charset="0"/>
                <a:cs typeface="Times New Roman" panose="02020603050405020304" pitchFamily="18" charset="0"/>
              </a:rPr>
              <a:t>Link:</a:t>
            </a:r>
            <a:r>
              <a:rPr lang="en-US" sz="1600" u="sng" dirty="0" err="1">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a:t>
            </a:r>
            <a:r>
              <a:rPr lang="en-US" sz="1600" u="sng"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://sist.sathyabama.ac.in/</a:t>
            </a:r>
            <a:r>
              <a:rPr lang="en-US" sz="1600" u="sng" dirty="0" err="1">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sist_naac</a:t>
            </a:r>
            <a:r>
              <a:rPr lang="en-US" sz="1600" u="sng"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/documents/1.3.4/1822-b.e-ece-batchno-                     125.pdf</a:t>
            </a:r>
            <a:endParaRPr lang="en-IN" sz="1600" dirty="0">
              <a:solidFill>
                <a:schemeClr val="tx1"/>
              </a:solidFill>
              <a:latin typeface="Times New Roman" panose="02020603050405020304" pitchFamily="18" charset="0"/>
              <a:cs typeface="Times New Roman" panose="02020603050405020304" pitchFamily="18" charset="0"/>
            </a:endParaRPr>
          </a:p>
          <a:p>
            <a:pPr lvl="1" algn="just">
              <a:lnSpc>
                <a:spcPct val="150000"/>
              </a:lnSpc>
            </a:pPr>
            <a:r>
              <a:rPr lang="en-US" sz="1600" b="1" dirty="0">
                <a:solidFill>
                  <a:schemeClr val="tx1"/>
                </a:solidFill>
                <a:latin typeface="Times New Roman" panose="02020603050405020304" pitchFamily="18" charset="0"/>
                <a:cs typeface="Times New Roman" panose="02020603050405020304" pitchFamily="18" charset="0"/>
              </a:rPr>
              <a:t>Reference:</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Goap</a:t>
            </a:r>
            <a:r>
              <a:rPr lang="en-US" sz="1600" dirty="0">
                <a:solidFill>
                  <a:schemeClr val="tx1"/>
                </a:solidFill>
                <a:latin typeface="Times New Roman" panose="02020603050405020304" pitchFamily="18" charset="0"/>
                <a:cs typeface="Times New Roman" panose="02020603050405020304" pitchFamily="18" charset="0"/>
              </a:rPr>
              <a:t>, A., Sharma, D., Shukla, A. K., &amp; Rama Krishna, C. (2018). "An IoT based Smart System for Advancing Agriculture." Computers and Electronics in Agriculture.</a:t>
            </a:r>
            <a:endParaRPr lang="en-I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600" b="1" dirty="0">
                <a:solidFill>
                  <a:schemeClr val="tx1"/>
                </a:solidFill>
                <a:latin typeface="Times New Roman" panose="02020603050405020304" pitchFamily="18" charset="0"/>
                <a:cs typeface="Times New Roman" panose="02020603050405020304" pitchFamily="18" charset="0"/>
              </a:rPr>
              <a:t>         Link:</a:t>
            </a:r>
            <a:r>
              <a:rPr lang="en-US" sz="1600" dirty="0">
                <a:solidFill>
                  <a:schemeClr val="tx1"/>
                </a:solidFill>
                <a:latin typeface="Times New Roman" panose="02020603050405020304" pitchFamily="18" charset="0"/>
                <a:cs typeface="Times New Roman" panose="02020603050405020304" pitchFamily="18" charset="0"/>
              </a:rPr>
              <a:t> </a:t>
            </a:r>
            <a:r>
              <a:rPr lang="en-US" sz="1600" u="sng"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https://www.normalesup.org/~scornet/paper/test.pdf</a:t>
            </a:r>
            <a:endParaRPr lang="en-IN" sz="1600" dirty="0">
              <a:solidFill>
                <a:schemeClr val="tx1"/>
              </a:solidFill>
              <a:latin typeface="Times New Roman" panose="02020603050405020304" pitchFamily="18" charset="0"/>
              <a:cs typeface="Times New Roman" panose="02020603050405020304" pitchFamily="18" charset="0"/>
            </a:endParaRPr>
          </a:p>
          <a:p>
            <a:pPr algn="l">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200" b="1" dirty="0">
                <a:latin typeface="Times New Roman" panose="02020603050405020304" pitchFamily="18" charset="0"/>
                <a:cs typeface="Times New Roman" panose="02020603050405020304" pitchFamily="18" charset="0"/>
                <a:sym typeface="+mn-ea"/>
              </a:rPr>
              <a:t>Conclusion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772400" cy="4841875"/>
          </a:xfrm>
        </p:spPr>
        <p:style>
          <a:lnRef idx="2">
            <a:schemeClr val="accent2"/>
          </a:lnRef>
          <a:fillRef idx="1">
            <a:schemeClr val="lt1"/>
          </a:fillRef>
          <a:effectRef idx="0">
            <a:schemeClr val="accent2"/>
          </a:effectRef>
          <a:fontRef idx="minor">
            <a:schemeClr val="dk1"/>
          </a:fontRef>
        </p:style>
        <p:txBody>
          <a:bodyPr>
            <a:normAutofit fontScale="32500" lnSpcReduction="20000"/>
          </a:bodyPr>
          <a:lstStyle/>
          <a:p>
            <a:pPr algn="just">
              <a:lnSpc>
                <a:spcPct val="170000"/>
              </a:lnSpc>
            </a:pPr>
            <a:r>
              <a:rPr lang="en-IN" sz="4900" dirty="0">
                <a:solidFill>
                  <a:schemeClr val="tx1"/>
                </a:solidFill>
                <a:latin typeface="Times New Roman" panose="02020603050405020304" pitchFamily="18" charset="0"/>
                <a:cs typeface="Times New Roman" panose="02020603050405020304" pitchFamily="18" charset="0"/>
              </a:rPr>
              <a:t>The </a:t>
            </a:r>
            <a:r>
              <a:rPr lang="en-IN" sz="4900" b="1" dirty="0">
                <a:solidFill>
                  <a:schemeClr val="tx1"/>
                </a:solidFill>
                <a:latin typeface="Times New Roman" panose="02020603050405020304" pitchFamily="18" charset="0"/>
                <a:cs typeface="Times New Roman" panose="02020603050405020304" pitchFamily="18" charset="0"/>
              </a:rPr>
              <a:t>Smart Irrigation System</a:t>
            </a:r>
            <a:r>
              <a:rPr lang="en-IN" sz="4900" dirty="0">
                <a:solidFill>
                  <a:schemeClr val="tx1"/>
                </a:solidFill>
                <a:latin typeface="Times New Roman" panose="02020603050405020304" pitchFamily="18" charset="0"/>
                <a:cs typeface="Times New Roman" panose="02020603050405020304" pitchFamily="18" charset="0"/>
              </a:rPr>
              <a:t> provides an intelligent approach to improving agricultural efficiency in hilly regions. By integrating real-time data collection, machine learning analysis, and automated hardware, the project enhances the ability of farmers to manage water resources accurately. The system transforms traditional farming into a "Smart" unit capable of predicting soil needs and providing financial </a:t>
            </a:r>
            <a:r>
              <a:rPr lang="en-IN" sz="4900" dirty="0" err="1">
                <a:solidFill>
                  <a:schemeClr val="tx1"/>
                </a:solidFill>
                <a:latin typeface="Times New Roman" panose="02020603050405020304" pitchFamily="18" charset="0"/>
                <a:cs typeface="Times New Roman" panose="02020603050405020304" pitchFamily="18" charset="0"/>
              </a:rPr>
              <a:t>insights.It</a:t>
            </a:r>
            <a:r>
              <a:rPr lang="en-IN" sz="4900" dirty="0">
                <a:solidFill>
                  <a:schemeClr val="tx1"/>
                </a:solidFill>
                <a:latin typeface="Times New Roman" panose="02020603050405020304" pitchFamily="18" charset="0"/>
                <a:cs typeface="Times New Roman" panose="02020603050405020304" pitchFamily="18" charset="0"/>
              </a:rPr>
              <a:t> also enables farmers to plan their infrastructure through field mapping and secure their data via biometric recognition. Although the current implementation is focused on hilly regions, the system demonstrates the potential to be expanded to various terrains. Overall, the project contributes to improving agricultural sustainability, reducing water waste, and empowering farmers with modern technological tools.</a:t>
            </a:r>
          </a:p>
          <a:p>
            <a:pPr algn="l">
              <a:lnSpc>
                <a:spcPct val="150000"/>
              </a:lnSpc>
            </a:pPr>
            <a:endParaRPr lang="en-US" altLang="en-US" sz="5335"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7772400" cy="990600"/>
          </a:xfrm>
        </p:spPr>
        <p:style>
          <a:lnRef idx="1">
            <a:schemeClr val="accent1"/>
          </a:lnRef>
          <a:fillRef idx="2">
            <a:schemeClr val="accent1"/>
          </a:fillRef>
          <a:effectRef idx="1">
            <a:schemeClr val="accent1"/>
          </a:effectRef>
          <a:fontRef idx="minor">
            <a:schemeClr val="dk1"/>
          </a:fontRef>
        </p:style>
        <p:txBody>
          <a:bodyPr>
            <a:noAutofit/>
          </a:bodyPr>
          <a:lstStyle/>
          <a:p>
            <a:r>
              <a:rPr lang="en-US" sz="3800" b="1" dirty="0">
                <a:latin typeface="Times New Roman" panose="02020603050405020304" pitchFamily="18" charset="0"/>
                <a:cs typeface="Times New Roman" panose="02020603050405020304" pitchFamily="18" charset="0"/>
              </a:rPr>
              <a:t>THANK YOU</a:t>
            </a:r>
            <a:endParaRPr lang="en-US" sz="3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57200" y="1524000"/>
            <a:ext cx="7772400" cy="4648200"/>
          </a:xfrm>
        </p:spPr>
        <p:style>
          <a:lnRef idx="2">
            <a:schemeClr val="accent2"/>
          </a:lnRef>
          <a:fillRef idx="1">
            <a:schemeClr val="lt1"/>
          </a:fillRef>
          <a:effectRef idx="0">
            <a:schemeClr val="accent2"/>
          </a:effectRef>
          <a:fontRef idx="minor">
            <a:schemeClr val="dk1"/>
          </a:fontRef>
        </p:style>
        <p:txBody>
          <a:bodyPr>
            <a:normAutofit/>
          </a:bodyPr>
          <a:lstStyle/>
          <a:p>
            <a:endParaRPr lang="en-US" dirty="0"/>
          </a:p>
          <a:p>
            <a:endParaRPr lang="en-US" dirty="0"/>
          </a:p>
          <a:p>
            <a:r>
              <a:rPr lang="en-US" b="1" dirty="0">
                <a:solidFill>
                  <a:schemeClr val="tx1"/>
                </a:solidFill>
                <a:latin typeface="Times New Roman" panose="02020603050405020304" pitchFamily="18" charset="0"/>
                <a:cs typeface="Times New Roman" panose="02020603050405020304" pitchFamily="18" charset="0"/>
              </a:rPr>
              <a:t>ANY QUERIES???</a:t>
            </a:r>
          </a:p>
        </p:txBody>
      </p:sp>
      <p:sp>
        <p:nvSpPr>
          <p:cNvPr id="4" name="Footer Placeholder 3"/>
          <p:cNvSpPr>
            <a:spLocks noGrp="1"/>
          </p:cNvSpPr>
          <p:nvPr>
            <p:ph type="ftr" sz="quarter" idx="11"/>
          </p:nvPr>
        </p:nvSpPr>
        <p:spPr>
          <a:xfrm>
            <a:off x="990600" y="6356350"/>
            <a:ext cx="7315200" cy="365125"/>
          </a:xfrm>
        </p:spPr>
        <p:txBody>
          <a:bodyPr/>
          <a:lstStyle/>
          <a:p>
            <a:r>
              <a:rPr lang="en-US">
                <a:sym typeface="+mn-ea"/>
              </a:rPr>
              <a:t>CGB1221-DATABASE MANAGEMENT SYSTEMS  END SEMESTER PROJECT REVIEW </a:t>
            </a:r>
            <a:endParaRPr lang="en-US" dirty="0"/>
          </a:p>
        </p:txBody>
      </p:sp>
      <p:sp>
        <p:nvSpPr>
          <p:cNvPr id="5" name="Slide Number Placeholder 4"/>
          <p:cNvSpPr>
            <a:spLocks noGrp="1"/>
          </p:cNvSpPr>
          <p:nvPr>
            <p:ph type="sldNum" sz="quarter" idx="12"/>
          </p:nvPr>
        </p:nvSpPr>
        <p:spPr/>
        <p:txBody>
          <a:bodyPr/>
          <a:lstStyle/>
          <a:p>
            <a:fld id="{66391149-F702-42CD-87F1-8E83746A2FC9}" type="slidenum">
              <a:rPr lang="en-US" smtClean="0"/>
              <a:t>22</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57*406"/>
  <p:tag name="TABLE_ENDDRAG_RECT" val="30*72*657*40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1684</Words>
  <Application>Microsoft Office PowerPoint</Application>
  <PresentationFormat>On-screen Show (4:3)</PresentationFormat>
  <Paragraphs>143</Paragraphs>
  <Slides>22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 CGB1221-DATABASE MANAGEMENT SYSTEMS  END SEMESTER PROJECT REVIEW </vt:lpstr>
      <vt:lpstr> CGB1221-DATABASE MANAGEMENT SYSTEMS  END SEMESTER PROJECT REVIEW </vt:lpstr>
      <vt:lpstr>Title of the Project</vt:lpstr>
      <vt:lpstr>ABSTRACT</vt:lpstr>
      <vt:lpstr>Abstract with CO/PO Mapping</vt:lpstr>
      <vt:lpstr>INTRODUCTION</vt:lpstr>
      <vt:lpstr>DBMS Concepts Used</vt:lpstr>
      <vt:lpstr>E-R DIAGRAM</vt:lpstr>
      <vt:lpstr>Proposed Architecture</vt:lpstr>
      <vt:lpstr>Proposed Architecture- Description</vt:lpstr>
      <vt:lpstr>List of Modules</vt:lpstr>
      <vt:lpstr>Module Description</vt:lpstr>
      <vt:lpstr>Software Specification</vt:lpstr>
      <vt:lpstr>Hardware Specification</vt:lpstr>
      <vt:lpstr>Hardware Specification</vt:lpstr>
      <vt:lpstr>Sample Screen shot</vt:lpstr>
      <vt:lpstr>Sample Screen shot</vt:lpstr>
      <vt:lpstr>Snapshot</vt:lpstr>
      <vt:lpstr>Snapshot</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CGB1221-DATABASE MANAGEMENT SYSTEMS  PROJECT REVIEW-0</dc:title>
  <dc:creator>DELL</dc:creator>
  <cp:lastModifiedBy>Mouli Sivam S</cp:lastModifiedBy>
  <cp:revision>35</cp:revision>
  <dcterms:created xsi:type="dcterms:W3CDTF">2026-02-05T06:30:00Z</dcterms:created>
  <dcterms:modified xsi:type="dcterms:W3CDTF">2026-05-06T15:42:30Z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C3478744DF2148B7BE5AE9074BF825FF_13</vt:lpwstr>
  </property>
  <property fmtid="{D5CDD505-2E9C-101B-9397-08002B2CF9AE}" pid="3" name="KSOProductBuildVer">
    <vt:lpwstr>1033-12.2.0.23196</vt:lpwstr>
  </property>
</Properties>
</file>